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00000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0" wrap="square"/>
          <a:lstStyle/>
          <a:p>
            <a:pPr algn="ctr">
              <a:defRPr sz="1200" b="1">
                <a:solidFill>
                  <a:srgbClr val="6B7280"/>
                </a:solidFill>
                <a:latin typeface="Calibri"/>
              </a:defRPr>
            </a:pPr>
            <a:r>
              <a:t>BBSPJIS KEMENTERIAN PERINDUSTRIAN REPUBLIK INDONESIA</a:t>
            </a:r>
          </a:p>
          <a:p>
            <a:pPr>
              <a:spcBef>
                <a:spcPts val="1200"/>
              </a:spcBef>
              <a:defRPr sz="4400" b="1">
                <a:solidFill>
                  <a:srgbClr val="FFFFFF"/>
                </a:solidFill>
                <a:latin typeface="Calibri"/>
              </a:defRPr>
            </a:pPr>
            <a:r>
              <a:t>SILOPTI</a:t>
            </a:r>
          </a:p>
          <a:p>
            <a:pPr>
              <a:spcBef>
                <a:spcPts val="600"/>
              </a:spcBef>
              <a:spcAft>
                <a:spcPts val="2400"/>
              </a:spcAft>
              <a:defRPr sz="1800" b="1">
                <a:solidFill>
                  <a:srgbClr val="F3F4F6"/>
                </a:solidFill>
                <a:latin typeface="Calibri"/>
              </a:defRPr>
            </a:pPr>
            <a:r>
              <a:t>Sistem Informasi Layanan OPTI: Alur Dokumen dari Permohonan hingga Kesepakatan (DEAL)</a:t>
            </a:r>
          </a:p>
          <a:p>
            <a:pPr>
              <a:defRPr sz="1300">
                <a:solidFill>
                  <a:srgbClr val="6B7280"/>
                </a:solidFill>
                <a:latin typeface="Calibri"/>
              </a:defRPr>
            </a:pPr>
            <a:r>
              <a:t>Pemaparan Alur Kerja Sistem &amp; Koordinasi Antar Tim (Tim Mitra, Tim Teknis, dan Keuangan)</a:t>
            </a:r>
            <a:br/>
            <a:r>
              <a:t>Disusun secara ringkas dan mudah dipahami bersama Bapak/Ibu Mentor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Tujuan Pengembangan SILOPTI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FOKUS DAN SASARAN UTAMA PENERAPAN SISTEM DI BBSPJIS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09728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BBSPJIS Kementerian Perindustrian RI — Alur Kerja Layanan Pengujian &amp; Kalibrasi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728655" cy="868680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09728"/>
          <a:lstStyle/>
          <a:p>
            <a:pPr algn="ctr">
              <a:defRPr sz="1350" b="1">
                <a:solidFill>
                  <a:srgbClr val="18181B"/>
                </a:solidFill>
                <a:latin typeface="Calibri"/>
              </a:defRPr>
            </a:pPr>
            <a:r>
              <a:t>Fokus Utama: Penataan Alur Layanan dan Koordinasi Kerja Terpadu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SILOPTI dikembangkan sebagai sarana penataan alur administrasi layanan jasa industri di BBSPJIS, menjembatani koordinasi antara Tim Mitra, Tim Teknis Laboratorium, dan Tim Keuangan secara tertib dan terpusat.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52578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1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defRPr sz="1300" b="1">
                <a:solidFill>
                  <a:srgbClr val="000000"/>
                </a:solidFill>
                <a:latin typeface="Calibri"/>
              </a:defRPr>
            </a:pPr>
            <a:r>
              <a:t>1. Integrasi Alur Layanan Terpadu</a:t>
            </a:r>
          </a:p>
          <a:p>
            <a:pPr>
              <a:spcBef>
                <a:spcPts val="600"/>
              </a:spcBef>
              <a:defRPr sz="1050">
                <a:solidFill>
                  <a:srgbClr val="374151"/>
                </a:solidFill>
                <a:latin typeface="Calibri"/>
              </a:defRPr>
            </a:pPr>
            <a:r>
              <a:t>Menghubungkan proses permohonan jasa antar unit kerja (Tim Mitra, Kepala Tim Teknis, PIC, dan Tim Keuangan) dalam satu alur kerja bersama yang berurutan dan transparan.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377440"/>
            <a:ext cx="5257800" cy="18288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defRPr sz="1300" b="1">
                <a:solidFill>
                  <a:srgbClr val="18181B"/>
                </a:solidFill>
                <a:latin typeface="Calibri"/>
              </a:defRPr>
            </a:pPr>
            <a:r>
              <a:t>2. Kejelasan Status &amp; Pelacakan Berkas</a:t>
            </a:r>
          </a:p>
          <a:p>
            <a:pPr>
              <a:spcBef>
                <a:spcPts val="600"/>
              </a:spcBef>
              <a:defRPr sz="1050">
                <a:solidFill>
                  <a:srgbClr val="374151"/>
                </a:solidFill>
                <a:latin typeface="Calibri"/>
              </a:defRPr>
            </a:pPr>
            <a:r>
              <a:t>Memastikan setiap permohonan memiliki tahapan status yang pasti (mulai dari registrasi, kaji kelayakan, penawaran, hingga DEAL), memudahkan seluruh tim memantau posisi berkas secara langsung.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5257800" cy="18288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defRPr sz="1300" b="1">
                <a:solidFill>
                  <a:srgbClr val="18181B"/>
                </a:solidFill>
                <a:latin typeface="Calibri"/>
              </a:defRPr>
            </a:pPr>
            <a:r>
              <a:t>3. Standarisasi Perhitungan Biaya Uji</a:t>
            </a:r>
          </a:p>
          <a:p>
            <a:pPr>
              <a:spcBef>
                <a:spcPts val="600"/>
              </a:spcBef>
              <a:defRPr sz="1050">
                <a:solidFill>
                  <a:srgbClr val="374151"/>
                </a:solidFill>
                <a:latin typeface="Calibri"/>
              </a:defRPr>
            </a:pPr>
            <a:r>
              <a:t>Membantu Ketua Tim Pelaksana (PIC) dalam menyusun parameter pengujian dan menghitung estimasi biaya secara terstruktur berdasarkan daftar tarif jasa pengujian resmi yang berlaku di balai.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343400"/>
            <a:ext cx="5257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defRPr sz="1300" b="1">
                <a:solidFill>
                  <a:srgbClr val="000000"/>
                </a:solidFill>
                <a:latin typeface="Calibri"/>
              </a:defRPr>
            </a:pPr>
            <a:r>
              <a:t>4. Tertib Arsip &amp; Dokumentasi Riwayat</a:t>
            </a:r>
          </a:p>
          <a:p>
            <a:pPr>
              <a:spcBef>
                <a:spcPts val="600"/>
              </a:spcBef>
              <a:defRPr sz="1050">
                <a:solidFill>
                  <a:srgbClr val="374151"/>
                </a:solidFill>
                <a:latin typeface="Calibri"/>
              </a:defRPr>
            </a:pPr>
            <a:r>
              <a:t>Mendokumentasikan seluruh catatan permohonan, riwayat kaji kelayakan lab, surat penawaran, catatan penyesuaian/negosiasi, hingga kesepakatan final dalam satu rekam jejak digital yang rapi.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Alur Kerja Utama Layanan Jasa (Tahap 1 s.d. 5)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TAHAPAN BERKAS DARI PERMOHONAN HINGGA KESEPAKATAN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09728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BBSPJIS Kementerian Perindustrian RI — Alur Kerja Layanan Pengujian &amp; Kalibrasi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350" b="1">
                <a:solidFill>
                  <a:srgbClr val="18181B"/>
                </a:solidFill>
                <a:latin typeface="Calibri"/>
              </a:defRPr>
            </a:pPr>
            <a:r>
              <a:t>Prinsip Kerja: Estafet Dokumen Sesuai Pembagian Peran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Setiap tim mengerjakan bagian tugasnya masing-masing di dalam sistem. Setelah satu tahap selesai divalidasi, berkas otomatis diteruskan ke tim selanjutnya.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1993392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050" b="1">
                <a:solidFill>
                  <a:srgbClr val="6B7280"/>
                </a:solidFill>
                <a:latin typeface="Calibri"/>
              </a:defRPr>
            </a:pPr>
            <a:r>
              <a:t>TAHAP 1</a:t>
            </a:r>
          </a:p>
          <a:p>
            <a:pPr>
              <a:spcBef>
                <a:spcPts val="300"/>
              </a:spcBef>
              <a:defRPr sz="1350" b="1">
                <a:solidFill>
                  <a:srgbClr val="000000"/>
                </a:solidFill>
                <a:latin typeface="Calibri"/>
              </a:defRPr>
            </a:pPr>
            <a:r>
              <a:t>Registrasi Surat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050" b="1">
                <a:solidFill>
                  <a:srgbClr val="6B7280"/>
                </a:solidFill>
                <a:latin typeface="Calibri"/>
              </a:defRPr>
            </a:pPr>
            <a:r>
              <a:t>Pelaksana: Tim Mitra</a:t>
            </a:r>
          </a:p>
          <a:p>
            <a:pPr>
              <a:defRPr sz="1050">
                <a:solidFill>
                  <a:srgbClr val="374151"/>
                </a:solidFill>
                <a:latin typeface="Calibri"/>
              </a:defRPr>
            </a:pPr>
            <a:r>
              <a:t>Menerima surat masuk dari pelanggan dan memilih divisi layanan.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2468880"/>
            <a:ext cx="1993392" cy="36118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050" b="1">
                <a:solidFill>
                  <a:srgbClr val="6B7280"/>
                </a:solidFill>
                <a:latin typeface="Calibri"/>
              </a:defRPr>
            </a:pPr>
            <a:r>
              <a:t>TAHAP 2</a:t>
            </a:r>
          </a:p>
          <a:p>
            <a:pPr>
              <a:spcBef>
                <a:spcPts val="300"/>
              </a:spcBef>
              <a:defRPr sz="1350" b="1">
                <a:solidFill>
                  <a:srgbClr val="000000"/>
                </a:solidFill>
                <a:latin typeface="Calibri"/>
              </a:defRPr>
            </a:pPr>
            <a:r>
              <a:t>Nomor Order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050" b="1">
                <a:solidFill>
                  <a:srgbClr val="6B7280"/>
                </a:solidFill>
                <a:latin typeface="Calibri"/>
              </a:defRPr>
            </a:pPr>
            <a:r>
              <a:t>Pelaksana: Sistem</a:t>
            </a:r>
          </a:p>
          <a:p>
            <a:pPr>
              <a:defRPr sz="1050">
                <a:solidFill>
                  <a:srgbClr val="374151"/>
                </a:solidFill>
                <a:latin typeface="Calibri"/>
              </a:defRPr>
            </a:pPr>
            <a:r>
              <a:t>Menerbitkan nomor urut resmi sebagai tanda identitas permohonan.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2468880"/>
            <a:ext cx="1993392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050" b="1">
                <a:solidFill>
                  <a:srgbClr val="6B7280"/>
                </a:solidFill>
                <a:latin typeface="Calibri"/>
              </a:defRPr>
            </a:pPr>
            <a:r>
              <a:t>TAHAP 3</a:t>
            </a:r>
          </a:p>
          <a:p>
            <a:pPr>
              <a:spcBef>
                <a:spcPts val="300"/>
              </a:spcBef>
              <a:defRPr sz="1350" b="1">
                <a:solidFill>
                  <a:srgbClr val="000000"/>
                </a:solidFill>
                <a:latin typeface="Calibri"/>
              </a:defRPr>
            </a:pPr>
            <a:r>
              <a:t>Kaji Kelayakan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050" b="1">
                <a:solidFill>
                  <a:srgbClr val="6B7280"/>
                </a:solidFill>
                <a:latin typeface="Calibri"/>
              </a:defRPr>
            </a:pPr>
            <a:r>
              <a:t>Pelaksana: Kepala Tim</a:t>
            </a:r>
          </a:p>
          <a:p>
            <a:pPr>
              <a:defRPr sz="1050">
                <a:solidFill>
                  <a:srgbClr val="374151"/>
                </a:solidFill>
                <a:latin typeface="Calibri"/>
              </a:defRPr>
            </a:pPr>
            <a:r>
              <a:t>Mengevaluasi kesiapan fasilitas lab dan menunjuk Ketua Tim Pelaksana.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2468880"/>
            <a:ext cx="1993392" cy="36118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050" b="1">
                <a:solidFill>
                  <a:srgbClr val="6B7280"/>
                </a:solidFill>
                <a:latin typeface="Calibri"/>
              </a:defRPr>
            </a:pPr>
            <a:r>
              <a:t>TAHAP 4</a:t>
            </a:r>
          </a:p>
          <a:p>
            <a:pPr>
              <a:spcBef>
                <a:spcPts val="300"/>
              </a:spcBef>
              <a:defRPr sz="1350" b="1">
                <a:solidFill>
                  <a:srgbClr val="000000"/>
                </a:solidFill>
                <a:latin typeface="Calibri"/>
              </a:defRPr>
            </a:pPr>
            <a:r>
              <a:t>Rincian Biaya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050" b="1">
                <a:solidFill>
                  <a:srgbClr val="6B7280"/>
                </a:solidFill>
                <a:latin typeface="Calibri"/>
              </a:defRPr>
            </a:pPr>
            <a:r>
              <a:t>Pelaksana: Ketua Tim Pelaksana (PIC)</a:t>
            </a:r>
          </a:p>
          <a:p>
            <a:pPr>
              <a:defRPr sz="1050">
                <a:solidFill>
                  <a:srgbClr val="374151"/>
                </a:solidFill>
                <a:latin typeface="Calibri"/>
              </a:defRPr>
            </a:pPr>
            <a:r>
              <a:t>Menentukan parameter uji, durasi waktu, dan estimasi biaya.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36608" y="2468880"/>
            <a:ext cx="1993392" cy="361188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181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050" b="1">
                <a:solidFill>
                  <a:srgbClr val="F3F4F6"/>
                </a:solidFill>
                <a:latin typeface="Calibri"/>
              </a:defRPr>
            </a:pPr>
            <a:r>
              <a:t>TAHAP 5</a:t>
            </a:r>
          </a:p>
          <a:p>
            <a:pPr>
              <a:spcBef>
                <a:spcPts val="300"/>
              </a:spcBef>
              <a:defRPr sz="1350" b="1">
                <a:solidFill>
                  <a:srgbClr val="FFFFFF"/>
                </a:solidFill>
                <a:latin typeface="Calibri"/>
              </a:defRPr>
            </a:pPr>
            <a:r>
              <a:t>Penawaran &amp; DEAL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050" b="1">
                <a:solidFill>
                  <a:srgbClr val="F3F4F6"/>
                </a:solidFill>
                <a:latin typeface="Calibri"/>
              </a:defRPr>
            </a:pPr>
            <a:r>
              <a:t>Pelaksana: Tim Mitra</a:t>
            </a:r>
          </a:p>
          <a:p>
            <a:pPr>
              <a:defRPr sz="1050">
                <a:solidFill>
                  <a:srgbClr val="F3F4F6"/>
                </a:solidFill>
                <a:latin typeface="Calibri"/>
              </a:defRPr>
            </a:pPr>
            <a:r>
              <a:t>Menerbitkan surat penawaran hingga tercapai kesepakatan pelanggan.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Tahap 1 &amp; 2: Penerimaan Surat &amp; Penomoran Resmi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MEMBUKA BERKAS &amp; IDENTITAS PELACAKAN PERMOHONAN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09728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BBSPJIS Kementerian Perindustrian RI — Alur Kerja Layanan Pengujian &amp; Kalibrasi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550" b="1">
                <a:solidFill>
                  <a:srgbClr val="18181B"/>
                </a:solidFill>
                <a:latin typeface="Calibri"/>
              </a:defRPr>
            </a:pPr>
            <a:r>
              <a:t>Tahap 1: Registrasi Surat oleh Tim Mitra</a:t>
            </a:r>
          </a:p>
          <a:p>
            <a:pPr>
              <a:spcAft>
                <a:spcPts val="600"/>
              </a:spcAft>
              <a:defRPr sz="1150" b="1">
                <a:solidFill>
                  <a:srgbClr val="6B7280"/>
                </a:solidFill>
              </a:defRPr>
            </a:pPr>
            <a:r>
              <a:t>Peran Pelaksana: Tim Mitra</a:t>
            </a:r>
          </a:p>
          <a:p>
            <a:pPr>
              <a:spcBef>
                <a:spcPts val="700"/>
              </a:spcBef>
              <a:defRPr sz="1200" b="1">
                <a:solidFill>
                  <a:srgbClr val="18181B"/>
                </a:solidFill>
              </a:defRPr>
            </a:pPr>
            <a:r>
              <a:t>• Penerimaan Surat Permohonan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Tim Mitra menerima surat permohonan pengujian dari pihak industri/pelanggan.</a:t>
            </a:r>
          </a:p>
          <a:p>
            <a:pPr>
              <a:spcBef>
                <a:spcPts val="700"/>
              </a:spcBef>
              <a:defRPr sz="1200" b="1">
                <a:solidFill>
                  <a:srgbClr val="18181B"/>
                </a:solidFill>
              </a:defRPr>
            </a:pPr>
            <a:r>
              <a:t>• Pencatatan Data Instansi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Memasukkan identitas perusahaan pemohon, kontak yang dapat dihubungi, dan jenis komoditas yang akan diuji.</a:t>
            </a:r>
          </a:p>
          <a:p>
            <a:pPr>
              <a:spcBef>
                <a:spcPts val="700"/>
              </a:spcBef>
              <a:defRPr sz="1200" b="1">
                <a:solidFill>
                  <a:srgbClr val="18181B"/>
                </a:solidFill>
              </a:defRPr>
            </a:pPr>
            <a:r>
              <a:t>• Penentuan Divisi Layanan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Tim Mitra mengarahkan permohonan sesuai bidangnya: Laboratorium Selulosa atau Laboratorium Lingkungan.</a:t>
            </a:r>
          </a:p>
          <a:p>
            <a:pPr>
              <a:spcBef>
                <a:spcPts val="700"/>
              </a:spcBef>
              <a:defRPr sz="1200" b="1">
                <a:solidFill>
                  <a:srgbClr val="18181B"/>
                </a:solidFill>
              </a:defRPr>
            </a:pPr>
            <a:r>
              <a:t>• Penerusan Berkas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Setelah disimpan, berkas langsung masuk ke antrean kerja Kepala Tim teknis terkait untuk ditinjau kesiapannya.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1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550" b="1">
                <a:solidFill>
                  <a:srgbClr val="000000"/>
                </a:solidFill>
                <a:latin typeface="Calibri"/>
              </a:defRPr>
            </a:pPr>
            <a:r>
              <a:t>Tahap 2: Penerbitan Nomor Order</a:t>
            </a:r>
          </a:p>
          <a:p>
            <a:pPr>
              <a:spcAft>
                <a:spcPts val="600"/>
              </a:spcAft>
              <a:defRPr sz="1150" b="1">
                <a:solidFill>
                  <a:srgbClr val="6B7280"/>
                </a:solidFill>
              </a:defRPr>
            </a:pPr>
            <a:r>
              <a:t>Format Penomoran: ORD-YYYYMM-XXX (Contoh: ORD-202609-006)</a:t>
            </a:r>
          </a:p>
          <a:p>
            <a:pPr>
              <a:spcBef>
                <a:spcPts val="700"/>
              </a:spcBef>
              <a:defRPr sz="1200" b="1">
                <a:solidFill>
                  <a:srgbClr val="000000"/>
                </a:solidFill>
              </a:defRPr>
            </a:pPr>
            <a:r>
              <a:t>• Penomoran Berurutan Otomatis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Sistem langsung membuat nomor urut baru, sehingga petugas tidak perlu membuka buku catatan nomor.</a:t>
            </a:r>
          </a:p>
          <a:p>
            <a:pPr>
              <a:spcBef>
                <a:spcPts val="700"/>
              </a:spcBef>
              <a:defRPr sz="1200" b="1">
                <a:solidFill>
                  <a:srgbClr val="000000"/>
                </a:solidFill>
              </a:defRPr>
            </a:pPr>
            <a:r>
              <a:t>• Mencegah Nomor Tertukar / Ganda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Setiap permohonan dijamin memiliki satu nomor identitas unik yang tidak sama dengan permohonan lain.</a:t>
            </a:r>
          </a:p>
          <a:p>
            <a:pPr>
              <a:spcBef>
                <a:spcPts val="700"/>
              </a:spcBef>
              <a:defRPr sz="1200" b="1">
                <a:solidFill>
                  <a:srgbClr val="000000"/>
                </a:solidFill>
              </a:defRPr>
            </a:pPr>
            <a:r>
              <a:t>• Pembaruan Tiap Bulan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Nomor urut dimulai kembali secara teratur setiap pergantian bulan kalender.</a:t>
            </a:r>
          </a:p>
          <a:p>
            <a:pPr>
              <a:spcBef>
                <a:spcPts val="700"/>
              </a:spcBef>
              <a:defRPr sz="1200" b="1">
                <a:solidFill>
                  <a:srgbClr val="000000"/>
                </a:solidFill>
              </a:defRPr>
            </a:pPr>
            <a:r>
              <a:t>• Identitas Pelacakan Utama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Nomor order ini digunakan bersama dari awal pengajuan, penerbitan surat penawaran, hingga laporan pengujian selesai.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Tahap 3: Kaji Kelayakan Teknis Laboratorium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PEMERIKSAAN KESIAPAN FASILITAS UJI OLEH KEPALA TIM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09728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BBSPJIS Kementerian Perindustrian RI — Alur Kerja Layanan Pengujian &amp; Kalibrasi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1005840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350" b="1">
                <a:solidFill>
                  <a:srgbClr val="18181B"/>
                </a:solidFill>
                <a:latin typeface="Calibri"/>
              </a:defRPr>
            </a:pPr>
            <a:r>
              <a:t>Pentingnya Kaji Kelayakan Teknis (Prinsip ISO/IEC 17025)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Sebelum menerima pengujian, Kepala Tim memeriksa 4 kesiapan utama laboratorium: Kesiapan instrumen/alat, ketersediaan bahan kimia/reagen, acuan metode pengujian, dan ketersediaan tenaga analis.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512064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1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400" b="1">
                <a:solidFill>
                  <a:srgbClr val="000000"/>
                </a:solidFill>
                <a:latin typeface="Calibri"/>
              </a:defRPr>
            </a:pPr>
            <a:r>
              <a:t>Keputusan: Dapat Dilaksanakan (Layak)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Kondisi Laboratorium Siap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Alat pengujian berfungsi normal dan bahan kimia yang dibutuhkan tersedia cukup.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Penunjukan Ketua Tim Pelaksana (PIC)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Kepala Tim menunjuk Ketua Tim Pelaksana (PIC) yang bertugas menyusun rincian parameter dan biaya.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Kelanjutan Alur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Permohonan diteruskan ke akun Ketua Tim Pelaksana (PIC) untuk menyusun estimasi teknis dan biaya.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560320"/>
            <a:ext cx="5212080" cy="3474720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400" b="1">
                <a:solidFill>
                  <a:srgbClr val="18181B"/>
                </a:solidFill>
                <a:latin typeface="Calibri"/>
              </a:defRPr>
            </a:pPr>
            <a:r>
              <a:t>Keputusan: Tidak Dapat Dilaksanakan (Ditolak)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Kondisi Laboratorium Belum Siap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Misalnya instrumen utama sedang dalam masa kalibrasi berkala atau reagen khusus sedang habis.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Pencatatan Alasan Resmi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Kepala Tim mencatat alasan penolakan secara jelas di dalam sistem sebagai dokumentasi resmi.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Penyampaian ke Pelanggan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Tim Mitra dapat menginformasikan penolakan tersebut kepada pemohon dengan alasan teknis yang dapat dipertanggungjawabkan.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Tahap 4: Penyusunan Rincian Pengujian &amp; Estimasi Biaya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PENYIAPAN PARAMETER UJI &amp; ESTIMASI BIAYA OLEH KETUA TIM PELAKSANA (PIC)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06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09728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BBSPJIS Kementerian Perindustrian RI — Alur Kerja Layanan Pengujian &amp; Kalibrasi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1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550" b="1">
                <a:solidFill>
                  <a:srgbClr val="000000"/>
                </a:solidFill>
                <a:latin typeface="Calibri"/>
              </a:defRPr>
            </a:pPr>
            <a:r>
              <a:t>Tugas Ketua Tim Pelaksana (PIC)</a:t>
            </a:r>
          </a:p>
          <a:p>
            <a:pPr>
              <a:spcBef>
                <a:spcPts val="800"/>
              </a:spcBef>
              <a:defRPr sz="1200" b="1">
                <a:solidFill>
                  <a:srgbClr val="000000"/>
                </a:solidFill>
              </a:defRPr>
            </a:pPr>
            <a:r>
              <a:t>• Memilih Parameter Pengujian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PIC memilih jenis uji yang diminta pelanggan (misal: gramatur, kadar air, kekuatan tarik pada kertas, atau BOD/COD pada air limbah).</a:t>
            </a:r>
          </a:p>
          <a:p>
            <a:pPr>
              <a:spcBef>
                <a:spcPts val="800"/>
              </a:spcBef>
              <a:defRPr sz="1200" b="1">
                <a:solidFill>
                  <a:srgbClr val="000000"/>
                </a:solidFill>
              </a:defRPr>
            </a:pPr>
            <a:r>
              <a:t>• Menentukan Jumlah Sampel &amp; Waktu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Memasukkan jumlah sampel uji dan estimasi durasi waktu pengerjaan di laboratorium.</a:t>
            </a:r>
          </a:p>
          <a:p>
            <a:pPr>
              <a:spcBef>
                <a:spcPts val="800"/>
              </a:spcBef>
              <a:defRPr sz="1200" b="1">
                <a:solidFill>
                  <a:srgbClr val="000000"/>
                </a:solidFill>
              </a:defRPr>
            </a:pPr>
            <a:r>
              <a:t>• Menyertakan Acuan Standar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Mencantumkan acuan metode uji resmi yang digunakan (SNI, ISO, atau standar lainnya).</a:t>
            </a:r>
          </a:p>
          <a:p>
            <a:pPr>
              <a:spcBef>
                <a:spcPts val="800"/>
              </a:spcBef>
              <a:defRPr sz="1200" b="1">
                <a:solidFill>
                  <a:srgbClr val="000000"/>
                </a:solidFill>
              </a:defRPr>
            </a:pPr>
            <a:r>
              <a:t>• Mengajukan Draf Rincian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Setelah selesai dirangkum, draf diverifikasi bersama Kepala Tim sebelum diteruskan ke Tim Mitra.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550" b="1">
                <a:solidFill>
                  <a:srgbClr val="18181B"/>
                </a:solidFill>
                <a:latin typeface="Calibri"/>
              </a:defRPr>
            </a:pPr>
            <a:r>
              <a:t>Peran Sistem &amp; Koordinasi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Penyesuaian Tarif Pengujian Resmi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Nilai tarif per parameter telah disesuaikan dengan daftar tarif pengujian resmi yang berlaku di balai.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Membantu Perhitungan Total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Sistem mengalikan tarif dan jumlah sampel secara otomatis, sehingga memudahkan kerja Ketua Tim Pelaksana (PIC).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Pemeriksaan oleh Kepala Tim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Kepala Tim menelaah draf rincian pengujian sebelum memberikan persetujuan.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Pemberitahuan ke Tim Mitra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Setelah disetujui, berkas langsung dapat diakses oleh Tim Mitra untuk dibuatkan Surat Penawaran Resmi.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Tahap 5: Penerbitan Surat Penawaran oleh Tim Mitra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KOMUNIKASI RESMI DAN PENGELOLAAN PENYESUAIAN PERMINTAAN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07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09728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BBSPJIS Kementerian Perindustrian RI — Alur Kerja Layanan Pengujian &amp; Kalibrasi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18181B"/>
                </a:solidFill>
                <a:latin typeface="Calibri"/>
              </a:defRPr>
            </a:pPr>
            <a:r>
              <a:t>1. Penerbitan Surat Penawaran</a:t>
            </a:r>
          </a:p>
          <a:p>
            <a:pPr>
              <a:spcBef>
                <a:spcPts val="12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Tim Mitra menerbitkan surat penawaran resmi menggunakan format standar kedinasan BBSPJIS.</a:t>
            </a:r>
            <a:br/>
            <a:br/>
            <a:r>
              <a:t>• Memuat nomor surat resmi, rincian parameter, durasi pengerjaan, dan biaya.</a:t>
            </a:r>
            <a:br/>
            <a:r>
              <a:t>• Surat disampaikan kepada pihak pemohon untuk dipelajari.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66344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181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000000"/>
                </a:solidFill>
                <a:latin typeface="Calibri"/>
              </a:defRPr>
            </a:pPr>
            <a:r>
              <a:t>2. Catatan Penyesuaian / Negosiasi</a:t>
            </a:r>
          </a:p>
          <a:p>
            <a:pPr>
              <a:spcBef>
                <a:spcPts val="12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Apabila pemohon mengajukan penyesuaian (misal perubahan jumlah sampel atau jenis uji):</a:t>
            </a:r>
            <a:br/>
            <a:br/>
            <a:r>
              <a:t>• Status diset menjadi 'Negosiasi'.</a:t>
            </a:r>
            <a:br/>
            <a:r>
              <a:t>• Tim Mitra dapat membuat draf surat penawaran revisi tanpa menghapus surat sebelumnya.</a:t>
            </a:r>
            <a:br/>
            <a:r>
              <a:t>• Arsip riwayat komunikasi tetap tersimpan runut.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4134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18181B"/>
                </a:solidFill>
                <a:latin typeface="Calibri"/>
              </a:defRPr>
            </a:pPr>
            <a:r>
              <a:t>3. Kepastian Tindak Lanjut</a:t>
            </a:r>
          </a:p>
          <a:p>
            <a:pPr>
              <a:spcBef>
                <a:spcPts val="12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Dua kemungkinan hasil akhir dari penawaran yang disampaikan:</a:t>
            </a:r>
            <a:br/>
            <a:br/>
            <a:r>
              <a:t>• Permohonan Batal: Jika pelanggan tidak melanjutkan, status dicatat resmi sebagai tidak lanjut.</a:t>
            </a:r>
            <a:br/>
            <a:r>
              <a:t>• Permohonan Disepakati (DEAL): Jika pelanggan menyetujui, Tim Mitra mengonfirmasi status DEAL.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Titik Temu: Konfirmasi Kesepakatan (DEAL)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LANGKAH LANJUTAN OTOMATIS MENUJU PROSES PEMBAYARAN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08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09728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BBSPJIS Kementerian Perindustrian RI — Alur Kerja Layanan Pengujian &amp; Kalibrasi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100584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37160"/>
          <a:lstStyle/>
          <a:p>
            <a:pPr algn="ctr">
              <a:defRPr sz="1550" b="1">
                <a:solidFill>
                  <a:srgbClr val="FFFFFF"/>
                </a:solidFill>
                <a:latin typeface="Calibri"/>
              </a:defRPr>
            </a:pPr>
            <a:r>
              <a:t>Pelanggan Menyetujui Surat Penawaran (Status: DEAL)</a:t>
            </a:r>
          </a:p>
          <a:p>
            <a:pPr>
              <a:defRPr sz="1100">
                <a:solidFill>
                  <a:srgbClr val="F3F4F6"/>
                </a:solidFill>
              </a:defRPr>
            </a:pPr>
            <a:r>
              <a:t>Ketika Tim Mitra mengonfirmasi kesepakatan (DEAL) di dalam sistem, alur kerja langsung berpindah ke langkah penagihan secara terpadu: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3413455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350" b="1">
                <a:solidFill>
                  <a:srgbClr val="000000"/>
                </a:solidFill>
                <a:latin typeface="Calibri"/>
              </a:defRPr>
            </a:pPr>
            <a:r>
              <a:t>1. Penguncian Data Kesepakatan</a:t>
            </a:r>
          </a:p>
          <a:p>
            <a:pPr>
              <a:spcBef>
                <a:spcPts val="12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Sistem mengunci nilai biaya yang disepakati, daftar parameter pengujian, dan estimasi waktu kerja.</a:t>
            </a:r>
            <a:br/>
            <a:br/>
            <a:r>
              <a:t>Data tidak dapat diubah kembali tanpa sepengetahuan Kepala Tim dan Tim Mitra.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606040"/>
            <a:ext cx="3413455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350" b="1">
                <a:solidFill>
                  <a:srgbClr val="000000"/>
                </a:solidFill>
                <a:latin typeface="Calibri"/>
              </a:defRPr>
            </a:pPr>
            <a:r>
              <a:t>2. Pembaruan Status Alur</a:t>
            </a:r>
          </a:p>
          <a:p>
            <a:pPr>
              <a:spcBef>
                <a:spcPts val="12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Indikator progres menandai Tahap 5 telah selesai disepakati.</a:t>
            </a:r>
            <a:br/>
            <a:br/>
            <a:r>
              <a:t>Seluruh tim yang terlibat dapat melihat bahwa permohonan ini siap masuk ke tahap administrasi keuangan.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606040"/>
            <a:ext cx="3413455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350" b="1">
                <a:solidFill>
                  <a:srgbClr val="000000"/>
                </a:solidFill>
                <a:latin typeface="Calibri"/>
              </a:defRPr>
            </a:pPr>
            <a:r>
              <a:t>3. Penerusan Data ke Tim Keuangan</a:t>
            </a:r>
          </a:p>
          <a:p>
            <a:pPr>
              <a:spcBef>
                <a:spcPts val="12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Data tagihan otomatis tampil pada dasbor Tim Keuangan.</a:t>
            </a:r>
            <a:br/>
            <a:br/>
            <a:r>
              <a:t>Tim Keuangan dapat segera memproses rincian tagihan pembayaran atau memverifikasi bukti transfer pelanggan.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Koordinasi &amp; Pembagian Peran dalam SILOPTI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KEJELASAN TANGGUNG JAWAB ANTAR UNIT KERJA DI BBSPJIS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09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09728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BBSPJIS Kementerian Perindustrian RI — Alur Kerja Layanan Pengujian &amp; Kalibrasi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1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defRPr sz="1300" b="1">
                <a:solidFill>
                  <a:srgbClr val="000000"/>
                </a:solidFill>
                <a:latin typeface="Calibri"/>
              </a:defRPr>
            </a:pPr>
            <a:r>
              <a:t>Tim Mitra (Front Office &amp; Relasi Pelanggan)</a:t>
            </a:r>
          </a:p>
          <a:p>
            <a:pPr>
              <a:spcBef>
                <a:spcPts val="600"/>
              </a:spcBef>
              <a:defRPr sz="1050">
                <a:solidFill>
                  <a:srgbClr val="374151"/>
                </a:solidFill>
                <a:latin typeface="Calibri"/>
              </a:defRPr>
            </a:pPr>
            <a:r>
              <a:t>• Menerima surat permohonan pengujian awal dari pihak luar.</a:t>
            </a:r>
            <a:br/>
            <a:r>
              <a:t>• Mengisi data permohonan dan mengarahkan ke laboratorium terkait.</a:t>
            </a:r>
            <a:br/>
            <a:r>
              <a:t>• Menerbitkan Surat Penawaran Resmi dan mengelola komunikasi negosiasi.</a:t>
            </a:r>
            <a:br/>
            <a:r>
              <a:t>• Menandai status DEAL saat penawaran disepakati.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257800" cy="2240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defRPr sz="1300" b="1">
                <a:solidFill>
                  <a:srgbClr val="18181B"/>
                </a:solidFill>
                <a:latin typeface="Calibri"/>
              </a:defRPr>
            </a:pPr>
            <a:r>
              <a:t>Kepala Tim Teknis (Lab Selulosa / Lingkungan)</a:t>
            </a:r>
          </a:p>
          <a:p>
            <a:pPr>
              <a:spcBef>
                <a:spcPts val="600"/>
              </a:spcBef>
              <a:defRPr sz="1050">
                <a:solidFill>
                  <a:srgbClr val="374151"/>
                </a:solidFill>
                <a:latin typeface="Calibri"/>
              </a:defRPr>
            </a:pPr>
            <a:r>
              <a:t>• Memeriksa kaji kelayakan teknis fasilitas dan peralatan lab.</a:t>
            </a:r>
            <a:br/>
            <a:r>
              <a:t>• Menunjuk Ketua Tim Pelaksana (PIC) untuk menangani permohonan.</a:t>
            </a:r>
            <a:br/>
            <a:r>
              <a:t>• Memeriksa kesesuaian draf rincian pengujian yang diajukan oleh PIC.</a:t>
            </a:r>
            <a:br/>
            <a:r>
              <a:t>• Memberikan catatan teknis resmi jika permohonan belum dapat diterima.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94760"/>
            <a:ext cx="5257800" cy="2240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defRPr sz="1300" b="1">
                <a:solidFill>
                  <a:srgbClr val="18181B"/>
                </a:solidFill>
                <a:latin typeface="Calibri"/>
              </a:defRPr>
            </a:pPr>
            <a:r>
              <a:t>Ketua Tim Pelaksana / PIC (Penyusun Rincian Biaya)</a:t>
            </a:r>
          </a:p>
          <a:p>
            <a:pPr>
              <a:spcBef>
                <a:spcPts val="600"/>
              </a:spcBef>
              <a:defRPr sz="1050">
                <a:solidFill>
                  <a:srgbClr val="374151"/>
                </a:solidFill>
                <a:latin typeface="Calibri"/>
              </a:defRPr>
            </a:pPr>
            <a:r>
              <a:t>• Menerima penugasan pengujian dari Kepala Tim Teknis.</a:t>
            </a:r>
            <a:br/>
            <a:r>
              <a:t>• Menyusun rincian parameter pengujian, standar metode, dan jumlah sampel.</a:t>
            </a:r>
            <a:br/>
            <a:r>
              <a:t>• Menghitung estimasi biaya dan durasi waktu pengujian di laboratorium.</a:t>
            </a:r>
            <a:br/>
            <a:r>
              <a:t>• Mengajukan draf rincian pengujian dan biaya kepada Kepala Tim.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79476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defRPr sz="1300" b="1">
                <a:solidFill>
                  <a:srgbClr val="000000"/>
                </a:solidFill>
                <a:latin typeface="Calibri"/>
              </a:defRPr>
            </a:pPr>
            <a:r>
              <a:t>Tim Keuangan (Administrasi Pembayaran)</a:t>
            </a:r>
          </a:p>
          <a:p>
            <a:pPr>
              <a:spcBef>
                <a:spcPts val="600"/>
              </a:spcBef>
              <a:defRPr sz="1050">
                <a:solidFill>
                  <a:srgbClr val="374151"/>
                </a:solidFill>
                <a:latin typeface="Calibri"/>
              </a:defRPr>
            </a:pPr>
            <a:r>
              <a:t>• Menerima data order yang telah berstatus DEAL dari Tim Mitra.</a:t>
            </a:r>
            <a:br/>
            <a:r>
              <a:t>• Menyiapkan informasi tagihan pembayaran jasa pengujian.</a:t>
            </a:r>
            <a:br/>
            <a:r>
              <a:t>• Memverifikasi bukti pembayaran yang diserahkan pelanggan.</a:t>
            </a:r>
            <a:br/>
            <a:r>
              <a:t>• Memberikan konfirmasi lunas agar proses pengujian sampel dapat dimulai.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Kesiapan Tahap Lanjutan &amp; Penutup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RENCANA PENGEMBANGAN ALUR HILIR &amp; KESIMPULAN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09728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BBSPJIS Kementerian Perindustrian RI — Alur Kerja Layanan Pengujian &amp; Kalibrasi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62179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550" b="1">
                <a:solidFill>
                  <a:srgbClr val="000000"/>
                </a:solidFill>
                <a:latin typeface="Calibri"/>
              </a:defRPr>
            </a:pPr>
            <a:r>
              <a:t>Rencana Alur Kerja Lanjutan (Tahap 6 s.d. 8)</a:t>
            </a:r>
          </a:p>
          <a:p>
            <a:pPr>
              <a:spcAft>
                <a:spcPts val="800"/>
              </a:spcAft>
              <a:defRPr sz="1150">
                <a:solidFill>
                  <a:srgbClr val="6B7280"/>
                </a:solidFill>
              </a:defRPr>
            </a:pPr>
            <a:r>
              <a:t>Setelah kesepakatan penawaran (DEAL), sistem disiapkan untuk: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Tahap 6: Pembayaran &amp; Verifikasi Tagihan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Pencatatan bukti pembayaran pelanggan dan konfirmasi status lunas oleh bagian keuangan.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Tahap 7: Penerimaan Sampel Fisik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Verifikasi kondisi fisik sampel saat tiba di balai dan penerbitan Surat Perintah Menguji (SPM).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Tahap 8: Pengujian &amp; Laporan Hasil (BAST)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Pelaksanaan uji di laboratorium hingga penyerahan Laporan Hasil Pengujian (LHU) dan Berita Acara Serah Terima.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371600"/>
            <a:ext cx="4206240" cy="466344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Terima Kasih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F3F4F6"/>
                </a:solidFill>
              </a:defRPr>
            </a:pPr>
            <a:r>
              <a:t>SILOPTI BBSPJIS</a:t>
            </a:r>
          </a:p>
          <a:p>
            <a:pPr algn="ctr">
              <a:spcBef>
                <a:spcPts val="1800"/>
              </a:spcBef>
              <a:defRPr sz="1150">
                <a:solidFill>
                  <a:srgbClr val="6B7280"/>
                </a:solidFill>
              </a:defRPr>
            </a:pPr>
            <a:r>
              <a:t>Alur layanan permohonan hingga kesepakatan (DEAL) telah terstruktur dan siap digunakan dalam kegiatan operasional.</a:t>
            </a:r>
          </a:p>
          <a:p>
            <a:pPr algn="ctr">
              <a:spcBef>
                <a:spcPts val="2000"/>
              </a:spcBef>
              <a:defRPr sz="1150">
                <a:solidFill>
                  <a:srgbClr val="FFFFFF"/>
                </a:solidFill>
              </a:defRPr>
            </a:pPr>
            <a:r>
              <a:t>Mohon arahan, masukan, dan bimbingan dari Bapak dan Ibu Mentor sekalian.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