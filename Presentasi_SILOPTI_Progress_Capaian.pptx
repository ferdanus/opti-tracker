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0000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tlCol="0" anchor="ctr"/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  <a:r>
              <a:rPr dirty="0"/>
              <a:t>BBSPJIS KEMENTERIAN PERINDUSTRIAN REPUBLIK INDONESIA</a:t>
            </a:r>
          </a:p>
          <a:p>
            <a:pPr>
              <a:spcBef>
                <a:spcPts val="12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SILOPTI</a:t>
            </a:r>
          </a:p>
          <a:p>
            <a:pPr>
              <a:spcBef>
                <a:spcPts val="600"/>
              </a:spcBef>
              <a:spcAft>
                <a:spcPts val="2400"/>
              </a:spcAft>
              <a:defRPr sz="1800" b="1">
                <a:solidFill>
                  <a:srgbClr val="F3F4F6"/>
                </a:solidFill>
                <a:latin typeface="Calibri"/>
              </a:defRPr>
            </a:pP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Informasi</a:t>
            </a:r>
            <a:r>
              <a:rPr dirty="0"/>
              <a:t> </a:t>
            </a:r>
            <a:r>
              <a:rPr dirty="0" err="1"/>
              <a:t>Layanan</a:t>
            </a:r>
            <a:r>
              <a:rPr dirty="0"/>
              <a:t> OPTI: </a:t>
            </a:r>
            <a:r>
              <a:rPr dirty="0" err="1"/>
              <a:t>Laporan</a:t>
            </a:r>
            <a:r>
              <a:rPr dirty="0"/>
              <a:t> </a:t>
            </a:r>
            <a:r>
              <a:rPr dirty="0" err="1"/>
              <a:t>Capaian</a:t>
            </a:r>
            <a:r>
              <a:rPr dirty="0"/>
              <a:t> &amp; Alur </a:t>
            </a:r>
            <a:r>
              <a:rPr dirty="0" err="1"/>
              <a:t>Kerja</a:t>
            </a:r>
            <a:r>
              <a:rPr dirty="0"/>
              <a:t> </a:t>
            </a:r>
            <a:r>
              <a:t>Sistem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Struktur &amp; Agenda Pembahasan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KERANGKA LAPORAN CAPAIAN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09728" rtlCol="0" anchor="ctr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4203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  <a:r>
              <a:rPr dirty="0"/>
              <a:t>1. TARGET PROYEK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600" b="1">
                <a:solidFill>
                  <a:srgbClr val="18181B"/>
                </a:solidFill>
                <a:latin typeface="Calibri"/>
              </a:defRPr>
            </a:pPr>
            <a:r>
              <a:rPr dirty="0" err="1"/>
              <a:t>Sasaran</a:t>
            </a:r>
            <a:r>
              <a:rPr dirty="0"/>
              <a:t> Utama SILOPTI</a:t>
            </a:r>
          </a:p>
          <a:p>
            <a:pPr>
              <a:defRPr sz="1100">
                <a:solidFill>
                  <a:srgbClr val="374151"/>
                </a:solidFill>
                <a:latin typeface="Calibri"/>
              </a:defRPr>
            </a:pPr>
            <a:r>
              <a:rPr dirty="0"/>
              <a:t>Tujuan </a:t>
            </a:r>
            <a:r>
              <a:rPr dirty="0" err="1"/>
              <a:t>pembangunan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memfasilitasi</a:t>
            </a:r>
            <a:r>
              <a:rPr dirty="0"/>
              <a:t> </a:t>
            </a:r>
            <a:r>
              <a:rPr dirty="0" err="1"/>
              <a:t>administrasi</a:t>
            </a:r>
            <a:r>
              <a:rPr dirty="0"/>
              <a:t> </a:t>
            </a:r>
            <a:r>
              <a:rPr dirty="0" err="1"/>
              <a:t>layanan</a:t>
            </a:r>
            <a:r>
              <a:rPr dirty="0"/>
              <a:t> </a:t>
            </a:r>
            <a:r>
              <a:rPr dirty="0" err="1"/>
              <a:t>pengujian</a:t>
            </a:r>
            <a:r>
              <a:rPr dirty="0"/>
              <a:t> dan </a:t>
            </a:r>
            <a:r>
              <a:rPr dirty="0" err="1"/>
              <a:t>mengintegrasikan</a:t>
            </a:r>
            <a:r>
              <a:rPr dirty="0"/>
              <a:t> </a:t>
            </a:r>
            <a:r>
              <a:rPr dirty="0" err="1"/>
              <a:t>koordinasi</a:t>
            </a:r>
            <a:r>
              <a:rPr dirty="0"/>
              <a:t> </a:t>
            </a:r>
            <a:r>
              <a:rPr dirty="0" err="1"/>
              <a:t>antar</a:t>
            </a:r>
            <a:r>
              <a:rPr dirty="0"/>
              <a:t> unit </a:t>
            </a:r>
            <a:r>
              <a:rPr dirty="0" err="1"/>
              <a:t>kerja</a:t>
            </a:r>
            <a:r>
              <a:rPr lang="en-US" dirty="0"/>
              <a:t> OPTI</a:t>
            </a:r>
            <a:r>
              <a:rPr dirty="0"/>
              <a:t> di BBSPJIS.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17320"/>
            <a:ext cx="2542032" cy="45720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  <a:r>
              <a:t>2. TAHAPAN KEGIATAN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600" b="1">
                <a:solidFill>
                  <a:srgbClr val="18181B"/>
                </a:solidFill>
                <a:latin typeface="Calibri"/>
              </a:defRPr>
            </a:pPr>
            <a:r>
              <a:t>Target Kerja Per Tahap</a:t>
            </a:r>
          </a:p>
          <a:p>
            <a:pPr>
              <a:defRPr sz="1100">
                <a:solidFill>
                  <a:srgbClr val="374151"/>
                </a:solidFill>
                <a:latin typeface="Calibri"/>
              </a:defRPr>
            </a:pPr>
            <a:r>
              <a:t>Pelaksanaan 5 tahapan alur layanan dari registrasi surat masuk, kaji kelayakan lab, rincian biaya oleh PIC, hingga terbit penawaran dan DEAL.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17320"/>
            <a:ext cx="254203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  <a:r>
              <a:t>3. KEMAJUAN SISTEM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600" b="1">
                <a:solidFill>
                  <a:srgbClr val="18181B"/>
                </a:solidFill>
                <a:latin typeface="Calibri"/>
              </a:defRPr>
            </a:pPr>
            <a:r>
              <a:t>Status Realisasi Pengerjaan</a:t>
            </a:r>
          </a:p>
          <a:p>
            <a:pPr>
              <a:defRPr sz="1100">
                <a:solidFill>
                  <a:srgbClr val="374151"/>
                </a:solidFill>
                <a:latin typeface="Calibri"/>
              </a:defRPr>
            </a:pPr>
            <a:r>
              <a:t>Pencapaian integrasi alur, pengujian fungsi sistem, dan simulasi permohonan jasa dengan skenario nyata di laboratorium.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417320"/>
            <a:ext cx="2542032" cy="45720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tlCol="0" anchor="ctr"/>
          <a:lstStyle/>
          <a:p>
            <a:pPr algn="ctr">
              <a:defRPr sz="1200" b="1">
                <a:solidFill>
                  <a:srgbClr val="F3F4F6"/>
                </a:solidFill>
                <a:latin typeface="Calibri"/>
              </a:defRPr>
            </a:pPr>
            <a:r>
              <a:t>4. OUTPUT &amp; CAPAIAN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Hasil Nyata yang Dihasilkan</a:t>
            </a:r>
          </a:p>
          <a:p>
            <a:pPr>
              <a:defRPr sz="1100">
                <a:solidFill>
                  <a:srgbClr val="F3F4F6"/>
                </a:solidFill>
                <a:latin typeface="Calibri"/>
              </a:defRPr>
            </a:pPr>
            <a:r>
              <a:t>Wujud nyata sistem web SILOPTI, dokumen terstandar yang dihasilkan, kepastian peran kerja tim, serta kesiapan tahap berikutnya.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1: Target Proyek SILOPTI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SASARAN UTAMA PENGEMBANGAN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09728" rtlCol="0" anchor="ctr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28655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09728" rtlCol="0" anchor="ctr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rPr dirty="0"/>
              <a:t>Target Utama: </a:t>
            </a:r>
            <a:r>
              <a:rPr dirty="0" err="1"/>
              <a:t>Mewujudkan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Pelacakan</a:t>
            </a:r>
            <a:r>
              <a:rPr dirty="0"/>
              <a:t> </a:t>
            </a:r>
            <a:r>
              <a:rPr dirty="0" err="1"/>
              <a:t>Layanan</a:t>
            </a:r>
            <a:r>
              <a:rPr dirty="0"/>
              <a:t> </a:t>
            </a:r>
            <a:r>
              <a:rPr dirty="0" err="1"/>
              <a:t>Terpadu</a:t>
            </a:r>
            <a:r>
              <a:rPr dirty="0"/>
              <a:t> di BBSPJIS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rPr dirty="0"/>
              <a:t>Menata proses </a:t>
            </a:r>
            <a:r>
              <a:rPr dirty="0" err="1"/>
              <a:t>administrasi</a:t>
            </a:r>
            <a:r>
              <a:rPr dirty="0"/>
              <a:t> </a:t>
            </a:r>
            <a:r>
              <a:rPr dirty="0" err="1"/>
              <a:t>pelayanan</a:t>
            </a:r>
            <a:r>
              <a:rPr dirty="0"/>
              <a:t> </a:t>
            </a:r>
            <a:r>
              <a:rPr dirty="0" err="1"/>
              <a:t>jasa</a:t>
            </a:r>
            <a:r>
              <a:rPr dirty="0"/>
              <a:t> </a:t>
            </a:r>
            <a:r>
              <a:rPr dirty="0" err="1"/>
              <a:t>industri</a:t>
            </a:r>
            <a:r>
              <a:rPr dirty="0"/>
              <a:t> (</a:t>
            </a:r>
            <a:r>
              <a:rPr dirty="0" err="1"/>
              <a:t>Laboratorium</a:t>
            </a:r>
            <a:r>
              <a:rPr dirty="0"/>
              <a:t> </a:t>
            </a:r>
            <a:r>
              <a:rPr dirty="0" err="1"/>
              <a:t>Selulosa</a:t>
            </a:r>
            <a:r>
              <a:rPr dirty="0"/>
              <a:t> &amp; </a:t>
            </a:r>
            <a:r>
              <a:rPr dirty="0" err="1"/>
              <a:t>Laboratorium</a:t>
            </a:r>
            <a:r>
              <a:rPr dirty="0"/>
              <a:t> </a:t>
            </a:r>
            <a:r>
              <a:rPr dirty="0" err="1"/>
              <a:t>Lingkungan</a:t>
            </a:r>
            <a:r>
              <a:rPr dirty="0"/>
              <a:t>) agar </a:t>
            </a:r>
            <a:r>
              <a:rPr dirty="0" err="1"/>
              <a:t>setiap</a:t>
            </a:r>
            <a:r>
              <a:rPr dirty="0"/>
              <a:t> </a:t>
            </a:r>
            <a:r>
              <a:rPr dirty="0" err="1"/>
              <a:t>berkas</a:t>
            </a:r>
            <a:r>
              <a:rPr dirty="0"/>
              <a:t> </a:t>
            </a:r>
            <a:r>
              <a:rPr dirty="0" err="1"/>
              <a:t>permohonan</a:t>
            </a:r>
            <a:r>
              <a:rPr dirty="0"/>
              <a:t> </a:t>
            </a:r>
            <a:r>
              <a:rPr dirty="0" err="1"/>
              <a:t>memiliki</a:t>
            </a:r>
            <a:r>
              <a:rPr dirty="0"/>
              <a:t> </a:t>
            </a:r>
            <a:r>
              <a:rPr dirty="0" err="1"/>
              <a:t>alur</a:t>
            </a:r>
            <a:r>
              <a:rPr dirty="0"/>
              <a:t> </a:t>
            </a:r>
            <a:r>
              <a:rPr dirty="0" err="1"/>
              <a:t>kerja</a:t>
            </a:r>
            <a:r>
              <a:rPr dirty="0"/>
              <a:t> yang </a:t>
            </a:r>
            <a:r>
              <a:rPr dirty="0" err="1"/>
              <a:t>runtut</a:t>
            </a:r>
            <a:r>
              <a:rPr dirty="0"/>
              <a:t>, </a:t>
            </a:r>
            <a:r>
              <a:rPr dirty="0" err="1"/>
              <a:t>terdata</a:t>
            </a:r>
            <a:r>
              <a:rPr dirty="0"/>
              <a:t>, dan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dipantau</a:t>
            </a:r>
            <a:r>
              <a:rPr dirty="0"/>
              <a:t> </a:t>
            </a:r>
            <a:r>
              <a:rPr dirty="0" err="1"/>
              <a:t>bersama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728655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tlCol="0" anchor="ctr"/>
          <a:lstStyle/>
          <a:p>
            <a:pPr algn="ctr">
              <a:defRPr sz="1350" b="1">
                <a:solidFill>
                  <a:srgbClr val="000000"/>
                </a:solidFill>
                <a:latin typeface="Calibri"/>
              </a:defRPr>
            </a:pPr>
            <a:r>
              <a:t>1. Keterpaduan Koordinasi Antar Tim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Menghilangkan kendala komunikasi terpisah dengan menghubungkan Tim Mitra, Kepala Tim Teknis, Ketua Tim Pelaksana (PIC), dan Tim Keuangan dalam satu alur kerja terpadu.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10728655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tlCol="0" anchor="ctr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2. Transparansi Status Permohonan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Menyediakan kejelasan posisi berkas pada setiap tahap layanan, sehingga pemohon dan pimpinan balai dapat mengetahui progres dokumen secara real-time tanpa konfirmasi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37160" rtlCol="0" anchor="ctr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3. Standarisasi Administrasi &amp; Tarif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Menerapkan penomoran berkas otomatis yang rapi, kalkulasi biaya berdasarkan tarif resmi balai, serta penerbitan format surat dinas penawaran yang terstandar.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2: Tahapan Kegiatan (Tahap 1 &amp; 2)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PENERIMAAN PERMOHONAN &amp; PENOMORAN RESMI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09728" rtlCol="0" anchor="ctr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1550" b="1">
                <a:solidFill>
                  <a:srgbClr val="18181B"/>
                </a:solidFill>
                <a:latin typeface="Calibri"/>
              </a:defRPr>
            </a:pPr>
            <a:r>
              <a:t>Tahap 1: Registrasi Surat Permohonan</a:t>
            </a:r>
          </a:p>
          <a:p>
            <a:pPr>
              <a:spcAft>
                <a:spcPts val="600"/>
              </a:spcAft>
              <a:defRPr sz="1150" b="1">
                <a:solidFill>
                  <a:srgbClr val="6B7280"/>
                </a:solidFill>
              </a:defRPr>
            </a:pPr>
            <a:r>
              <a:t>Pelaksana: Tim Mitra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Penerimaan Surat Masuk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Menerima berkas permohonan jasa pengujian dari pihak industri atau pelanggan luar.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Pencatatan Data Instansi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Memasukkan nama perusahaan pemohon, kontak penanggung jawab, dan kebutuhan uji.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Pemilahan Divisi Layanan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Mengarahkan berkas ke laboratorium yang sesuai: Laboratorium Selulosa atau Laboratorium Lingkungan.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Penerusan Langsung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Setelah disimpan, berkas otomatis masuk ke antrean kerja Kepala Tim Teknis terkait.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1550" b="1">
                <a:solidFill>
                  <a:srgbClr val="000000"/>
                </a:solidFill>
                <a:latin typeface="Calibri"/>
              </a:defRPr>
            </a:pPr>
            <a:r>
              <a:t>Tahap 2: Penerbitan Nomor Order</a:t>
            </a:r>
          </a:p>
          <a:p>
            <a:pPr>
              <a:spcAft>
                <a:spcPts val="600"/>
              </a:spcAft>
              <a:defRPr sz="1150" b="1">
                <a:solidFill>
                  <a:srgbClr val="6B7280"/>
                </a:solidFill>
              </a:defRPr>
            </a:pPr>
            <a:r>
              <a:t>Pelaksana: Sistem (Otomatis)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Format Penomoran Unik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Sistem menghasilkan format resmi: ORD-TAHUNBULAN-NOMOR (misal: ORD-202609-006).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Penomoran Berurutan Otomatis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Sistem menerbitkan nomor baru secara mandiri tanpa risiko terlewat atau dobel.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Reset Teratur Tiap Bulan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Nomor urut dimulai kembali ke 001 setiap awal bulan baru dengan tertib.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Kunci Identitas Dokumen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Nomor order menjadi rujukan tunggal pada lembar kaji kelayakan, penawaran, hingga laporan pengujian.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2: Tahapan Kegiatan (Tahap 3)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KAJI KELAYAKAN TEKNIS LABORATORIUM OLEH KEPALA TIM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09728" rtlCol="0" anchor="ctr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tlCol="0" anchor="ctr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Target Kegiatan: Memastikan Kesiapan Laboratorium Sebelum Menerima Pekerjaan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Teknis memeriksa 4 aspek kesiapan fasilitas laboratorium: Kesiapan alat uji, ketersediaan bahan/reagen kimia, acuan metode pengujian, serta ketersediaan personel pelaksana pengujian.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1206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tlCol="0" anchor="ctr"/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Hasil: Dapat Dilaksanakan (Layak)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Laboratorium Siap Pengujian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Instrumen berfungsi normal dan bahan kimia yang dibutuhkan tersedia lengkap.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Penunjukan Ketua Tim Pelaksana (PIC)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menunjuk staf teknis sebagai PIC yang bertugas menyusun rincian pengujian.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Penerusan Alur Kerja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Berkas otomatis masuk ke akun PIC terpilih untuk mulai merangkum rincian uji dan biaya.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5212080" cy="347472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tlCol="0" anchor="ctr"/>
          <a:lstStyle/>
          <a:p>
            <a:pPr algn="ctr">
              <a:defRPr sz="1400" b="1">
                <a:solidFill>
                  <a:srgbClr val="18181B"/>
                </a:solidFill>
                <a:latin typeface="Calibri"/>
              </a:defRPr>
            </a:pPr>
            <a:r>
              <a:t>Hasil: Tidak Dapat Dilaksanakan (Ditolak)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Fasilitas Belum Siap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Misalnya instrumen utama sedang kalibrasi berkala atau reagen khusus sedang kosong.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Dokumentasi Alasan Resmi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mencatat alasan penolakan secara jelas di dalam sistem.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Pemberitahuan ke Pemohon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Tim Mitra dapat menginformasikan penolakan kepada pemohon secara transparan dengan alasan teknis yang resmi.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2: Tahapan Kegiatan (Tahap 4)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PENYUSUNAN RINCIAN PENGUJIAN &amp; BIAYA OLEH KETUA TIM PELAKSANA (PIC)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09728" rtlCol="0" anchor="ctr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1550" b="1">
                <a:solidFill>
                  <a:srgbClr val="000000"/>
                </a:solidFill>
                <a:latin typeface="Calibri"/>
              </a:defRPr>
            </a:pPr>
            <a:r>
              <a:t>Tugas Ketua Tim Pelaksana (PIC)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Memilih Parameter Pengujian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PIC memilih jenis uji yang diminta pelanggan (misal: gramatur, kadar air, kekuatan tarik, atau BOD/COD).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Menentukan Jumlah Sampel &amp; Waktu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Memasukkan jumlah sampel uji dan estimasi durasi waktu pengerjaan di laboratorium.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Menyertakan Standar Acuan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Mencantumkan metode uji resmi yang digunakan (SNI, ISO, atau standar lainnya).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Mengajukan Draf Rincian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Setelah selesai dirangkum, draf diverifikasi bersama Kepala Tim sebelum diteruskan ke Tim Mitra.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1550" b="1">
                <a:solidFill>
                  <a:srgbClr val="18181B"/>
                </a:solidFill>
                <a:latin typeface="Calibri"/>
              </a:defRPr>
            </a:pPr>
            <a:r>
              <a:t>Peran Sistem &amp; Koordinasi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Penyesuaian Tarif Pengujian Resmi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Nilai tarif per parameter mengacu pada daftar tarif jasa pengujian resmi yang berlaku di balai.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Perhitungan Biaya Otomatis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Sistem mengalikan tarif dan jumlah sampel secara otomatis, sehingga memudahkan kerja PIC.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Verifikasi Kepala Tim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menelaah draf rincian pengujian sebelum memberikan persetujuan akhir.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Penerusan ke Tim Mitra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Setelah disetujui, berkas langsung dapat diakses oleh Tim Mitra untuk dibuatkan Surat Penawaran Resmi.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2: Tahapan Kegiatan (Tahap 5)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PENERBITAN SURAT PENAWARAN OLEH TIM MITRA &amp; MOMEN DEAL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09728" rtlCol="0" anchor="ctr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400" b="1">
                <a:solidFill>
                  <a:srgbClr val="18181B"/>
                </a:solidFill>
                <a:latin typeface="Calibri"/>
              </a:defRPr>
            </a:pPr>
            <a:r>
              <a:t>1. Penerbitan Surat Penawaran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Pelaksana: Tim Mitra</a:t>
            </a:r>
            <a:br/>
            <a:br/>
            <a:r>
              <a:t>• Menerbitkan surat penawaran resmi berformat dinas BBSPJIS.</a:t>
            </a:r>
            <a:br/>
            <a:r>
              <a:t>• Memuat nomor surat resmi, rincian pengujian, estimasi waktu, dan total biaya.</a:t>
            </a:r>
            <a:br/>
            <a:r>
              <a:t>• Surat disampaikan kepada pihak pemohon untuk dipelajari.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2. Penanganan Negosiasi Klien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Fleksibilitas Permintaan Klien</a:t>
            </a:r>
            <a:br/>
            <a:br/>
            <a:r>
              <a:t>• Jika pemohon mengajukan perubahan jumlah sampel atau jenis parameter uji, status dicatat sebagai 'Negosiasi'.</a:t>
            </a:r>
            <a:br/>
            <a:r>
              <a:t>• Tim Mitra dapat menerbitkan surat revisi baru tanpa menghilangkan arsip surat sebelumnya.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134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400" b="1">
                <a:solidFill>
                  <a:srgbClr val="18181B"/>
                </a:solidFill>
                <a:latin typeface="Calibri"/>
              </a:defRPr>
            </a:pPr>
            <a:r>
              <a:t>3. Momen DEAL &amp; Estafet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Titik Temu Kesepakatan</a:t>
            </a:r>
            <a:br/>
            <a:br/>
            <a:r>
              <a:t>• Begitu penawaran disetujui pelanggan, Tim Mitra mengonfirmasi status DEAL.</a:t>
            </a:r>
            <a:br/>
            <a:r>
              <a:t>• Sistem mengunci rincian biaya dan meneruskan data tagihan ke Tim Keuangan untuk administrasi pembayaran.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3: Kemajuan Pengerjaan Sistem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REALISASI ALUR KERJA DARI TAHAP 1 HINGGA TAHAP 5 (DEAL)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09728" rtlCol="0" anchor="ctr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28655" cy="86868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Status </a:t>
            </a:r>
            <a:r>
              <a:rPr dirty="0" err="1"/>
              <a:t>Capaian</a:t>
            </a:r>
            <a:r>
              <a:rPr dirty="0"/>
              <a:t>: </a:t>
            </a:r>
            <a:r>
              <a:rPr dirty="0" err="1"/>
              <a:t>Seluruh</a:t>
            </a:r>
            <a:r>
              <a:rPr dirty="0"/>
              <a:t> </a:t>
            </a:r>
            <a:r>
              <a:rPr dirty="0" err="1"/>
              <a:t>alur</a:t>
            </a:r>
            <a:r>
              <a:rPr dirty="0"/>
              <a:t> </a:t>
            </a:r>
            <a:r>
              <a:rPr dirty="0" err="1"/>
              <a:t>kerja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surat</a:t>
            </a:r>
            <a:r>
              <a:rPr dirty="0"/>
              <a:t> </a:t>
            </a:r>
            <a:r>
              <a:rPr dirty="0" err="1"/>
              <a:t>permohonan</a:t>
            </a:r>
            <a:r>
              <a:rPr dirty="0"/>
              <a:t> </a:t>
            </a:r>
            <a:r>
              <a:rPr dirty="0" err="1"/>
              <a:t>masuk</a:t>
            </a:r>
            <a:r>
              <a:rPr dirty="0"/>
              <a:t>, </a:t>
            </a:r>
            <a:r>
              <a:rPr dirty="0" err="1"/>
              <a:t>kaji</a:t>
            </a:r>
            <a:r>
              <a:rPr dirty="0"/>
              <a:t> </a:t>
            </a:r>
            <a:r>
              <a:rPr dirty="0" err="1"/>
              <a:t>kelayakan</a:t>
            </a:r>
            <a:r>
              <a:rPr dirty="0"/>
              <a:t> </a:t>
            </a:r>
            <a:r>
              <a:rPr dirty="0" err="1"/>
              <a:t>teknis</a:t>
            </a:r>
            <a:r>
              <a:rPr dirty="0"/>
              <a:t> lab, </a:t>
            </a:r>
            <a:r>
              <a:rPr dirty="0" err="1"/>
              <a:t>kalkulasi</a:t>
            </a:r>
            <a:r>
              <a:rPr dirty="0"/>
              <a:t> </a:t>
            </a:r>
            <a:r>
              <a:rPr dirty="0" err="1"/>
              <a:t>biaya</a:t>
            </a:r>
            <a:r>
              <a:rPr dirty="0"/>
              <a:t> PIC, </a:t>
            </a:r>
            <a:r>
              <a:rPr dirty="0" err="1"/>
              <a:t>hingga</a:t>
            </a:r>
            <a:r>
              <a:rPr dirty="0"/>
              <a:t> </a:t>
            </a:r>
            <a:r>
              <a:rPr dirty="0" err="1"/>
              <a:t>penerbitan</a:t>
            </a:r>
            <a:r>
              <a:rPr dirty="0"/>
              <a:t> </a:t>
            </a:r>
            <a:r>
              <a:rPr dirty="0" err="1"/>
              <a:t>surat</a:t>
            </a:r>
            <a:r>
              <a:rPr dirty="0"/>
              <a:t> </a:t>
            </a:r>
            <a:r>
              <a:rPr dirty="0" err="1"/>
              <a:t>penawaran</a:t>
            </a:r>
            <a:r>
              <a:rPr dirty="0"/>
              <a:t> dan </a:t>
            </a:r>
            <a:r>
              <a:rPr dirty="0" err="1"/>
              <a:t>konfirmasi</a:t>
            </a:r>
            <a:r>
              <a:rPr dirty="0"/>
              <a:t> DEAL </a:t>
            </a:r>
            <a:r>
              <a:rPr dirty="0" err="1"/>
              <a:t>telah</a:t>
            </a:r>
            <a:r>
              <a:rPr dirty="0"/>
              <a:t> </a:t>
            </a:r>
            <a:r>
              <a:rPr dirty="0" err="1"/>
              <a:t>berfungsi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penuh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1. Integrasi Estafet Antar Peran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Alur kerja antar peran telah terhubung secara otomatis: Tim Mitra menginput surat, Kepala Tim menerima notifikasi kaji kelayakan, PIC menyusun biaya, dan berkas kembali ke Tim Mitra hingga DEAL.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377440"/>
            <a:ext cx="5257800" cy="1828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tlCol="0" anchor="ctr"/>
          <a:lstStyle/>
          <a:p>
            <a:pPr algn="ctr">
              <a:defRPr sz="1300" b="1">
                <a:solidFill>
                  <a:srgbClr val="18181B"/>
                </a:solidFill>
                <a:latin typeface="Calibri"/>
              </a:defRPr>
            </a:pPr>
            <a:r>
              <a:t>2. Stabilitas Penomoran &amp; Kalkulasi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Algoritma nomor urut otomatis (ORD-YYYYMM-XXX) dan sistem perhitungan tarif pengujian resmi telah berjalan stabil tanpa duplikasi atau kendala perhitungan.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5257800" cy="1828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tlCol="0" anchor="ctr"/>
          <a:lstStyle/>
          <a:p>
            <a:pPr algn="ctr">
              <a:defRPr sz="1300" b="1">
                <a:solidFill>
                  <a:srgbClr val="18181B"/>
                </a:solidFill>
                <a:latin typeface="Calibri"/>
              </a:defRPr>
            </a:pPr>
            <a:r>
              <a:t>3. Pengelolaan Revisi Penawaran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Fitur penyesuaian penawaran saat negosiasi pelanggan telah berfungsi dengan baik, di mana surat revisi baru dapat diterbitkan tanpa menghapus draf lama.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34340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tlCol="0" anchor="ctr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4. Pengujian dengan Skenario Nyata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Telah dilakukan simulasi permohonan pengujian riil (pada komoditas Lab Selulosa dan Lab Lingkungan) dan sistem berhasil mengawal alur hingga berstatus DEAL.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4: Output &amp; Capaian Proyek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WUJUD NYATA DELIVERABLES YANG TELAH DIHASILKAN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09728" rtlCol="0" anchor="ctr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tlCol="0" anchor="ctr"/>
          <a:lstStyle/>
          <a:p>
            <a:pPr algn="ctr">
              <a:defRPr sz="1350" b="1">
                <a:solidFill>
                  <a:srgbClr val="000000"/>
                </a:solidFill>
                <a:latin typeface="Calibri"/>
              </a:defRPr>
            </a:pPr>
            <a:r>
              <a:t>1. Aplikasi Web SILOPTI</a:t>
            </a:r>
          </a:p>
          <a:p>
            <a:pPr>
              <a:spcBef>
                <a:spcPts val="8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Aplikasi pelacakan layanan jasa industri yang siap digunakan operasional, memiliki pembagian akses aman untuk Tim Mitra, Kepala Tim Teknis, PIC, dan Tim Keuangan.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tlCol="0" anchor="ctr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2. Dokumen Administrasi Terstandar</a:t>
            </a:r>
          </a:p>
          <a:p>
            <a:pPr>
              <a:spcBef>
                <a:spcPts val="8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Menghasilkan rekam dokumen digital berupa lembar kaji kelayakan teknis lab, draf rincian pengujian terstruktur, serta format Surat Penawaran Resmi dinas BBSPJIS.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tlCol="0" anchor="ctr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3. Kejelasan Pembagian Peran Kerja</a:t>
            </a:r>
          </a:p>
          <a:p>
            <a:pPr>
              <a:spcBef>
                <a:spcPts val="8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Terbentuknya batas tanggung jawab kerja yang tertata rapi antar unit kerja, sehingga tidak terjadi tumpang tindih tugas dalam penanganan permohonan jasa.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9476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82880" rtlCol="0" anchor="ctr"/>
          <a:lstStyle/>
          <a:p>
            <a:pPr algn="ctr">
              <a:defRPr sz="1350" b="1">
                <a:solidFill>
                  <a:srgbClr val="000000"/>
                </a:solidFill>
                <a:latin typeface="Calibri"/>
              </a:defRPr>
            </a:pPr>
            <a:r>
              <a:t>4. Kesiapan Menuju Tahap Lanjutan</a:t>
            </a:r>
          </a:p>
          <a:p>
            <a:pPr>
              <a:spcBef>
                <a:spcPts val="8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Fondasi hulu (Tahap 1 s.d. 5) telah terbangun dengan kokoh, sehingga siap untuk diintegrasikan ke tahap hilir (pembayaran, sampel fisik, hingga terbit BAST).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64592" rtlCol="0" anchor="ctr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Rencana Tahap Lanjutan &amp; Penutup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TAHAP KERJA BERIKUTNYA &amp; KESIMPULAN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0" tIns="109728" rtlCol="0" anchor="ctr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2179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1550" b="1">
                <a:solidFill>
                  <a:srgbClr val="000000"/>
                </a:solidFill>
                <a:latin typeface="Calibri"/>
              </a:defRPr>
            </a:pPr>
            <a:r>
              <a:t>Rencana Tahap Lanjutan (Tahap 6 s.d. 8)</a:t>
            </a:r>
          </a:p>
          <a:p>
            <a:pPr>
              <a:spcAft>
                <a:spcPts val="800"/>
              </a:spcAft>
              <a:defRPr sz="1150">
                <a:solidFill>
                  <a:srgbClr val="6B7280"/>
                </a:solidFill>
              </a:defRPr>
            </a:pPr>
            <a:r>
              <a:t>Setelah kesepakatan penawaran (DEAL), pengembangan dilanjutkan ke: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Tahap 6: Pembayaran &amp; Verifikasi Tagihan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Pencatatan bukti pembayaran pelanggan dan konfirmasi status lunas oleh bagian keuangan.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Tahap 7: Penerimaan Sampel Fisik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Verifikasi kondisi fisik sampel saat tiba di balai dan penerbitan Surat Perintah Menguji (SPM).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Tahap 8: Pengujian &amp; Laporan Hasil (BAST)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Pelaksanaan uji di laboratorium hingga penyerahan Laporan Hasil Pengujian (LHU) dan Berita Acara Serah Terima.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4206240" cy="466344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0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Terima</a:t>
            </a:r>
            <a:r>
              <a:rPr dirty="0"/>
              <a:t> Kasih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3F4F6"/>
                </a:solidFill>
              </a:defRPr>
            </a:pPr>
            <a:r>
              <a:rPr dirty="0"/>
              <a:t>SILOPTI BBSPJIS</a:t>
            </a:r>
          </a:p>
          <a:p>
            <a:pPr algn="ctr">
              <a:spcBef>
                <a:spcPts val="1800"/>
              </a:spcBef>
              <a:defRPr sz="1150">
                <a:solidFill>
                  <a:srgbClr val="6B7280"/>
                </a:solidFill>
              </a:defRPr>
            </a:pPr>
            <a:r>
              <a:rPr dirty="0"/>
              <a:t>Target </a:t>
            </a:r>
            <a:r>
              <a:rPr dirty="0" err="1"/>
              <a:t>proyek</a:t>
            </a:r>
            <a:r>
              <a:rPr dirty="0"/>
              <a:t>, </a:t>
            </a:r>
            <a:r>
              <a:rPr dirty="0" err="1"/>
              <a:t>tahapan</a:t>
            </a:r>
            <a:r>
              <a:rPr dirty="0"/>
              <a:t> </a:t>
            </a:r>
            <a:r>
              <a:rPr dirty="0" err="1"/>
              <a:t>kegiatan</a:t>
            </a:r>
            <a:r>
              <a:rPr dirty="0"/>
              <a:t>, </a:t>
            </a:r>
            <a:r>
              <a:rPr dirty="0" err="1"/>
              <a:t>kemajuan</a:t>
            </a:r>
            <a:r>
              <a:rPr dirty="0"/>
              <a:t>, dan output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telah</a:t>
            </a:r>
            <a:r>
              <a:rPr dirty="0"/>
              <a:t> </a:t>
            </a:r>
            <a:r>
              <a:rPr dirty="0" err="1"/>
              <a:t>terwujud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nyata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mendukung</a:t>
            </a:r>
            <a:r>
              <a:rPr dirty="0"/>
              <a:t> </a:t>
            </a:r>
            <a:r>
              <a:rPr dirty="0" err="1"/>
              <a:t>pelayanan</a:t>
            </a:r>
            <a:r>
              <a:rPr dirty="0"/>
              <a:t> </a:t>
            </a:r>
            <a:r>
              <a:rPr dirty="0" err="1"/>
              <a:t>jasa</a:t>
            </a:r>
            <a:r>
              <a:rPr dirty="0"/>
              <a:t> di </a:t>
            </a:r>
            <a:r>
              <a:rPr lang="en-US" dirty="0"/>
              <a:t>BBSPJIS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1585</Words>
  <Application>Microsoft Office PowerPoint</Application>
  <PresentationFormat>Widescreen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Fajriasa Erdanus</cp:lastModifiedBy>
  <cp:revision>4</cp:revision>
  <dcterms:created xsi:type="dcterms:W3CDTF">2013-01-27T09:14:16Z</dcterms:created>
  <dcterms:modified xsi:type="dcterms:W3CDTF">2026-09-07T02:14:41Z</dcterms:modified>
  <cp:category/>
</cp:coreProperties>
</file>