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00000"/>
          </a:solidFill>
          <a:ln w="1905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0" wrap="square"/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  <a:r>
              <a:t>BBSPJIS KEMENTERIAN PERINDUSTRIAN REPUBLIK INDONESIA</a:t>
            </a:r>
          </a:p>
          <a:p>
            <a:pPr>
              <a:spcBef>
                <a:spcPts val="12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SILOPTI</a:t>
            </a:r>
          </a:p>
          <a:p>
            <a:pPr>
              <a:spcBef>
                <a:spcPts val="600"/>
              </a:spcBef>
              <a:spcAft>
                <a:spcPts val="2400"/>
              </a:spcAft>
              <a:defRPr sz="1800" b="1">
                <a:solidFill>
                  <a:srgbClr val="F3F4F6"/>
                </a:solidFill>
                <a:latin typeface="Calibri"/>
              </a:defRPr>
            </a:pPr>
            <a:r>
              <a:t>Sistem Informasi Layanan OPTI: Laporan Capaian &amp; Alur Kerja Sistem</a:t>
            </a:r>
          </a:p>
          <a:p>
            <a:pPr>
              <a:defRPr sz="1300">
                <a:solidFill>
                  <a:srgbClr val="6B7280"/>
                </a:solidFill>
                <a:latin typeface="Calibri"/>
              </a:defRPr>
            </a:pPr>
            <a:r>
              <a:t>Target Proyek  →  Tahapan Kegiatan  →  Kemajuan  →  Output &amp; Capaian</a:t>
            </a:r>
            <a:br/>
            <a:r>
              <a:t>(Fokus: Alur Layanan dari Permohonan Masuk hingga Kesepakatan DEAL)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Struktur &amp; Agenda Pembahasan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KERANGKA LAPORAN CAPAIAN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54203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  <a:r>
              <a:t>1. TARGET PROYEK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600" b="1">
                <a:solidFill>
                  <a:srgbClr val="18181B"/>
                </a:solidFill>
                <a:latin typeface="Calibri"/>
              </a:defRPr>
            </a:pPr>
            <a:r>
              <a:t>Sasaran Utama SILOPTI</a:t>
            </a:r>
          </a:p>
          <a:p>
            <a:pPr>
              <a:defRPr sz="1100">
                <a:solidFill>
                  <a:srgbClr val="374151"/>
                </a:solidFill>
                <a:latin typeface="Calibri"/>
              </a:defRPr>
            </a:pPr>
            <a:r>
              <a:t>Tujuan pembangunan sistem dalam memfasilitasi administrasi layanan pengujian dan mengintegrasikan koordinasi antar unit kerja di BBSPJIS.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17320"/>
            <a:ext cx="2542032" cy="45720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  <a:r>
              <a:t>2. TAHAPAN KEGIATAN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600" b="1">
                <a:solidFill>
                  <a:srgbClr val="18181B"/>
                </a:solidFill>
                <a:latin typeface="Calibri"/>
              </a:defRPr>
            </a:pPr>
            <a:r>
              <a:t>Target Kerja Per Tahap</a:t>
            </a:r>
          </a:p>
          <a:p>
            <a:pPr>
              <a:defRPr sz="1100">
                <a:solidFill>
                  <a:srgbClr val="374151"/>
                </a:solidFill>
                <a:latin typeface="Calibri"/>
              </a:defRPr>
            </a:pPr>
            <a:r>
              <a:t>Pelaksanaan 5 tahapan alur layanan dari registrasi surat masuk, kaji kelayakan lab, rincian biaya oleh PIC, hingga terbit penawaran dan DEAL.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17320"/>
            <a:ext cx="2542032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  <a:r>
              <a:t>3. KEMAJUAN SISTEM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600" b="1">
                <a:solidFill>
                  <a:srgbClr val="18181B"/>
                </a:solidFill>
                <a:latin typeface="Calibri"/>
              </a:defRPr>
            </a:pPr>
            <a:r>
              <a:t>Status Realisasi Pengerjaan</a:t>
            </a:r>
          </a:p>
          <a:p>
            <a:pPr>
              <a:defRPr sz="1100">
                <a:solidFill>
                  <a:srgbClr val="374151"/>
                </a:solidFill>
                <a:latin typeface="Calibri"/>
              </a:defRPr>
            </a:pPr>
            <a:r>
              <a:t>Pencapaian integrasi alur, pengujian fungsi sistem, dan simulasi permohonan jasa dengan skenario nyata di laboratorium.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417320"/>
            <a:ext cx="2542032" cy="457200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200" b="1">
                <a:solidFill>
                  <a:srgbClr val="F3F4F6"/>
                </a:solidFill>
                <a:latin typeface="Calibri"/>
              </a:defRPr>
            </a:pPr>
            <a:r>
              <a:t>4. OUTPUT &amp; CAPAIAN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Hasil Nyata yang Dihasilkan</a:t>
            </a:r>
          </a:p>
          <a:p>
            <a:pPr>
              <a:defRPr sz="1100">
                <a:solidFill>
                  <a:srgbClr val="F3F4F6"/>
                </a:solidFill>
                <a:latin typeface="Calibri"/>
              </a:defRPr>
            </a:pPr>
            <a:r>
              <a:t>Wujud nyata sistem web SILOPTI, dokumen terstandar yang dihasilkan, kepastian peran kerja tim, serta kesiapan tahap berikutnya.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1: Target Proyek SILOPTI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SASARAN UTAMA PENGEMBANGAN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28655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09728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Target Utama: Mewujudkan Sistem Pelacakan Layanan Terpadu di BBSPJIS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Menata proses administrasi pelayanan jasa industri (Laboratorium Selulosa &amp; Laboratorium Lingkungan) agar setiap berkas permohonan memiliki alur kerja yang runtut, terdata, dan mudah dipantau bersama.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728655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>
              <a:defRPr sz="1350" b="1">
                <a:solidFill>
                  <a:srgbClr val="000000"/>
                </a:solidFill>
                <a:latin typeface="Calibri"/>
              </a:defRPr>
            </a:pPr>
            <a:r>
              <a:t>1. Keterpaduan Koordinasi Antar Tim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Menghilangkan kendala komunikasi terpisah dengan menghubungkan Tim Mitra, Kepala Tim Teknis, Ketua Tim Pelaksana (PIC), dan Tim Keuangan dalam satu alur kerja terpadu.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10728655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2. Transparansi Status Permohonan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Menyediakan kejelasan posisi berkas pada setiap tahap layanan, sehingga pemohon dan pimpinan balai dapat mengetahui progres dokumen secara real-time tanpa konfirmasi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3. Standarisasi Administrasi &amp; Tarif</a:t>
            </a:r>
          </a:p>
          <a:p>
            <a:pPr>
              <a:spcBef>
                <a:spcPts val="4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Menerapkan penomoran berkas otomatis yang rapi, kalkulasi biaya berdasarkan tarif resmi balai, serta penerbitan format surat dinas penawaran yang terstandar.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2: Tahapan Kegiatan (Tahap 1 &amp; 2)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PENERIMAAN PERMOHONAN &amp; PENOMORAN RESMI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550" b="1">
                <a:solidFill>
                  <a:srgbClr val="18181B"/>
                </a:solidFill>
                <a:latin typeface="Calibri"/>
              </a:defRPr>
            </a:pPr>
            <a:r>
              <a:t>Tahap 1: Registrasi Surat Permohonan</a:t>
            </a:r>
          </a:p>
          <a:p>
            <a:pPr>
              <a:spcAft>
                <a:spcPts val="600"/>
              </a:spcAft>
              <a:defRPr sz="1150" b="1">
                <a:solidFill>
                  <a:srgbClr val="6B7280"/>
                </a:solidFill>
              </a:defRPr>
            </a:pPr>
            <a:r>
              <a:t>Pelaksana: Tim Mitra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Penerimaan Surat Masuk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Menerima berkas permohonan jasa pengujian dari pihak industri atau pelanggan luar.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Pencatatan Data Instansi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Memasukkan nama perusahaan pemohon, kontak penanggung jawab, dan kebutuhan uji.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Pemilahan Divisi Layanan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Mengarahkan berkas ke laboratorium yang sesuai: Laboratorium Selulosa atau Laboratorium Lingkungan.</a:t>
            </a:r>
          </a:p>
          <a:p>
            <a:pPr>
              <a:spcBef>
                <a:spcPts val="700"/>
              </a:spcBef>
              <a:defRPr sz="1200" b="1">
                <a:solidFill>
                  <a:srgbClr val="18181B"/>
                </a:solidFill>
              </a:defRPr>
            </a:pPr>
            <a:r>
              <a:t>• Penerusan Langsung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Setelah disimpan, berkas otomatis masuk ke antrean kerja Kepala Tim Teknis terkait.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550" b="1">
                <a:solidFill>
                  <a:srgbClr val="000000"/>
                </a:solidFill>
                <a:latin typeface="Calibri"/>
              </a:defRPr>
            </a:pPr>
            <a:r>
              <a:t>Tahap 2: Penerbitan Nomor Order</a:t>
            </a:r>
          </a:p>
          <a:p>
            <a:pPr>
              <a:spcAft>
                <a:spcPts val="600"/>
              </a:spcAft>
              <a:defRPr sz="1150" b="1">
                <a:solidFill>
                  <a:srgbClr val="6B7280"/>
                </a:solidFill>
              </a:defRPr>
            </a:pPr>
            <a:r>
              <a:t>Pelaksana: Sistem (Otomatis)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Format Penomoran Unik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Sistem menghasilkan format resmi: ORD-TAHUNBULAN-NOMOR (misal: ORD-202609-006).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Penomoran Berurutan Otomatis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Sistem menerbitkan nomor baru secara mandiri tanpa risiko terlewat atau dobel.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Reset Teratur Tiap Bulan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Nomor urut dimulai kembali ke 001 setiap awal bulan baru dengan tertib.</a:t>
            </a:r>
          </a:p>
          <a:p>
            <a:pPr>
              <a:spcBef>
                <a:spcPts val="700"/>
              </a:spcBef>
              <a:defRPr sz="1200" b="1">
                <a:solidFill>
                  <a:srgbClr val="000000"/>
                </a:solidFill>
              </a:defRPr>
            </a:pPr>
            <a:r>
              <a:t>• Kunci Identitas Dokumen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Nomor order menjadi rujukan tunggal pada lembar kaji kelayakan, penawaran, hingga laporan pengujian.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2: Tahapan Kegiatan (Tahap 3)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KAJI KELAYAKAN TEKNIS LABORATORIUM OLEH KEPALA TIM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Target Kegiatan: Memastikan Kesiapan Laboratorium Sebelum Menerima Pekerjaan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Teknis memeriksa 4 aspek kesiapan fasilitas laboratorium: Kesiapan alat uji, ketersediaan bahan/reagen kimia, acuan metode pengujian, serta ketersediaan personel pelaksana pengujian.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12064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Hasil: Dapat Dilaksanakan (Layak)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Laboratorium Siap Pengujian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Instrumen berfungsi normal dan bahan kimia yang dibutuhkan tersedia lengkap.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Penunjukan Ketua Tim Pelaksana (PIC)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menunjuk staf teknis sebagai PIC yang bertugas menyusun rincian pengujian.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Penerusan Alur Kerja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Berkas otomatis masuk ke akun PIC terpilih untuk mulai merangkum rincian uji dan biaya.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560320"/>
            <a:ext cx="5212080" cy="347472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/>
          <a:lstStyle/>
          <a:p>
            <a:pPr algn="ctr">
              <a:defRPr sz="1400" b="1">
                <a:solidFill>
                  <a:srgbClr val="18181B"/>
                </a:solidFill>
                <a:latin typeface="Calibri"/>
              </a:defRPr>
            </a:pPr>
            <a:r>
              <a:t>Hasil: Tidak Dapat Dilaksanakan (Ditolak)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Fasilitas Belum Siap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Misalnya instrumen utama sedang kalibrasi berkala atau reagen khusus sedang kosong.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Dokumentasi Alasan Resmi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mencatat alasan penolakan secara jelas di dalam sistem.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Pemberitahuan ke Pemohon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Tim Mitra dapat menginformasikan penolakan kepada pemohon secara transparan dengan alasan teknis yang resmi.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2: Tahapan Kegiatan (Tahap 4)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PENYUSUNAN RINCIAN PENGUJIAN &amp; BIAYA OLEH KETUA TIM PELAKSANA (PIC)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550" b="1">
                <a:solidFill>
                  <a:srgbClr val="000000"/>
                </a:solidFill>
                <a:latin typeface="Calibri"/>
              </a:defRPr>
            </a:pPr>
            <a:r>
              <a:t>Tugas Ketua Tim Pelaksana (PIC)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Memilih Parameter Pengujian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PIC memilih jenis uji yang diminta pelanggan (misal: gramatur, kadar air, kekuatan tarik, atau BOD/COD).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Menentukan Jumlah Sampel &amp; Waktu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Memasukkan jumlah sampel uji dan estimasi durasi waktu pengerjaan di laboratorium.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Menyertakan Standar Acuan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Mencantumkan metode uji resmi yang digunakan (SNI, ISO, atau standar lainnya).</a:t>
            </a:r>
          </a:p>
          <a:p>
            <a:pPr>
              <a:spcBef>
                <a:spcPts val="800"/>
              </a:spcBef>
              <a:defRPr sz="1200" b="1">
                <a:solidFill>
                  <a:srgbClr val="000000"/>
                </a:solidFill>
              </a:defRPr>
            </a:pPr>
            <a:r>
              <a:t>• Mengajukan Draf Rincian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Setelah selesai dirangkum, draf diverifikasi bersama Kepala Tim sebelum diteruskan ke Tim Mitra.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9FAF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550" b="1">
                <a:solidFill>
                  <a:srgbClr val="18181B"/>
                </a:solidFill>
                <a:latin typeface="Calibri"/>
              </a:defRPr>
            </a:pPr>
            <a:r>
              <a:t>Peran Sistem &amp; Koordinasi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Penyesuaian Tarif Pengujian Resmi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Nilai tarif per parameter mengacu pada daftar tarif jasa pengujian resmi yang berlaku di balai.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Perhitungan Biaya Otomatis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Sistem mengalikan tarif dan jumlah sampel secara otomatis, sehingga memudahkan kerja PIC.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Verifikasi Kepala Tim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Kepala Tim menelaah draf rincian pengujian sebelum memberikan persetujuan akhir.</a:t>
            </a:r>
          </a:p>
          <a:p>
            <a:pPr>
              <a:spcBef>
                <a:spcPts val="800"/>
              </a:spcBef>
              <a:defRPr sz="1200" b="1">
                <a:solidFill>
                  <a:srgbClr val="18181B"/>
                </a:solidFill>
              </a:defRPr>
            </a:pPr>
            <a:r>
              <a:t>• Penerusan ke Tim Mitra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Setelah disetujui, berkas langsung dapat diakses oleh Tim Mitra untuk dibuatkan Surat Penawaran Resmi.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2: Tahapan Kegiatan (Tahap 5)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PENERBITAN SURAT PENAWARAN OLEH TIM MITRA &amp; MOMEN DEAL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8181B"/>
                </a:solidFill>
                <a:latin typeface="Calibri"/>
              </a:defRPr>
            </a:pPr>
            <a:r>
              <a:t>1. Penerbitan Surat Penawaran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Pelaksana: Tim Mitra</a:t>
            </a:r>
            <a:br/>
            <a:br/>
            <a:r>
              <a:t>• Menerbitkan surat penawaran resmi berformat dinas BBSPJIS.</a:t>
            </a:r>
            <a:br/>
            <a:r>
              <a:t>• Memuat nomor surat resmi, rincian pengujian, estimasi waktu, dan total biaya.</a:t>
            </a:r>
            <a:br/>
            <a:r>
              <a:t>• Surat disampaikan kepada pihak pemohon untuk dipelajari.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1818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2. Penanganan Negosiasi Klien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Fleksibilitas Permintaan Klien</a:t>
            </a:r>
            <a:br/>
            <a:br/>
            <a:r>
              <a:t>• Jika pemohon mengajukan perubahan jumlah sampel atau jenis parameter uji, status dicatat sebagai 'Negosiasi'.</a:t>
            </a:r>
            <a:br/>
            <a:r>
              <a:t>• Tim Mitra dapat menerbitkan surat revisi baru tanpa menghilangkan arsip surat sebelumnya.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134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8181B"/>
                </a:solidFill>
                <a:latin typeface="Calibri"/>
              </a:defRPr>
            </a:pPr>
            <a:r>
              <a:t>3. Momen DEAL &amp; Estafet</a:t>
            </a:r>
          </a:p>
          <a:p>
            <a:pPr>
              <a:spcBef>
                <a:spcPts val="12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Titik Temu Kesepakatan</a:t>
            </a:r>
            <a:br/>
            <a:br/>
            <a:r>
              <a:t>• Begitu penawaran disetujui pelanggan, Tim Mitra mengonfirmasi status DEAL.</a:t>
            </a:r>
            <a:br/>
            <a:r>
              <a:t>• Sistem mengunci rincian biaya dan meneruskan data tagihan ke Tim Keuangan untuk administrasi pembayaran.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3: Kemajuan Pengerjaan Sistem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PROGRES PROTOTIPE ALUR DASAR DARI PERMOHONAN HINGGA DEAL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728655" cy="86868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Status Progres: Pengembangan Prototipe Alur Dasar (Tahap 1 s.d. 5)</a:t>
            </a:r>
          </a:p>
          <a:p>
            <a:pPr>
              <a:defRPr sz="1100">
                <a:solidFill>
                  <a:srgbClr val="F3F4F6"/>
                </a:solidFill>
              </a:defRPr>
            </a:pPr>
            <a:r>
              <a:t>Saat ini sistem baru pada tahap kerangka awal untuk menghubungkan alur dasar dari surat masuk sampai penawaran, dan masih membutuhkan banyak masukan serta perbaikan.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1. Simulasi Alur Antar Peran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Mencoba menghubungkan alur kerja sederhana dari Tim Mitra (surat masuk), Kepala Tim (kaji lab), PIC (rincian uji), hingga kembali ke Tim Mitra untuk penawaran.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377440"/>
            <a:ext cx="5257800" cy="1828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18181B"/>
                </a:solidFill>
                <a:latin typeface="Calibri"/>
              </a:defRPr>
            </a:pPr>
            <a:r>
              <a:t>2. Uji Coba Penomoran &amp; Tarif Dasar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Menerapkan penomoran otomatis sederhana (ORD-YYYYMM-XXX) dan formula hitung biaya awal agar staf tidak perlu menghitung rincian secara manual.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5257800" cy="18288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18181B"/>
                </a:solidFill>
                <a:latin typeface="Calibri"/>
              </a:defRPr>
            </a:pPr>
            <a:r>
              <a:t>3. Draf Revisi Penawaran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Menyediakan fungsi dasar untuk membuat revisi surat penawaran baru jika pemohon mengajukan perubahan jumlah sampel saat negosiasi.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34340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4. Simulasi dengan Contoh Permohonan</a:t>
            </a:r>
          </a:p>
          <a:p>
            <a:pPr>
              <a:spcBef>
                <a:spcPts val="600"/>
              </a:spcBef>
              <a:defRPr sz="1050">
                <a:solidFill>
                  <a:srgbClr val="374151"/>
                </a:solidFill>
                <a:latin typeface="Calibri"/>
              </a:defRPr>
            </a:pPr>
            <a:r>
              <a:t>Mencoba memasukkan beberapa contoh kasus permohonan pengujian sederhana untuk melihat apakah alur sistem dapat berjalan dari awal sampai DEAL.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Pilar 4: Output yang Dihasilkan Saat Ini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WUJUD PROTOTIPE DAN KERANGKA AWAL SISTEM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50" b="1">
                <a:solidFill>
                  <a:srgbClr val="000000"/>
                </a:solidFill>
                <a:latin typeface="Calibri"/>
              </a:defRPr>
            </a:pPr>
            <a:r>
              <a:t>1. Prototipe Aplikasi Web SILOPTI</a:t>
            </a:r>
          </a:p>
          <a:p>
            <a:pPr>
              <a:spcBef>
                <a:spcPts val="8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Aplikasi versi awal berbasis web untuk memvisualisasikan alur kerja layanan. Tentu masih berstatus prototipe dasar dan membutuhkan pengujian lebih lanjut.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2. Contoh Draf Format Dokumen</a:t>
            </a:r>
          </a:p>
          <a:p>
            <a:pPr>
              <a:spcBef>
                <a:spcPts val="8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Template digital awal untuk lembar kaji kesiapan lab dan surat penawaran, yang masih perlu disesuaikan dengan tata naskah dinas resmi di balai.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257800" cy="2240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50" b="1">
                <a:solidFill>
                  <a:srgbClr val="18181B"/>
                </a:solidFill>
                <a:latin typeface="Calibri"/>
              </a:defRPr>
            </a:pPr>
            <a:r>
              <a:t>3. Pemetaan Alur Tugas Awal</a:t>
            </a:r>
          </a:p>
          <a:p>
            <a:pPr>
              <a:spcBef>
                <a:spcPts val="8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Kerangka pembagian tugas antara Tim Mitra, Kepala Tim, PIC, dan Keuangan agar alur koordinasi mulai tergambar dalam sistem.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9476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/>
          <a:lstStyle/>
          <a:p>
            <a:pPr algn="ctr">
              <a:defRPr sz="1350" b="1">
                <a:solidFill>
                  <a:srgbClr val="000000"/>
                </a:solidFill>
                <a:latin typeface="Calibri"/>
              </a:defRPr>
            </a:pPr>
            <a:r>
              <a:t>4. Dasar untuk Pengembangan Lanjutan</a:t>
            </a:r>
          </a:p>
          <a:p>
            <a:pPr>
              <a:spcBef>
                <a:spcPts val="800"/>
              </a:spcBef>
              <a:defRPr sz="1100">
                <a:solidFill>
                  <a:srgbClr val="374151"/>
                </a:solidFill>
                <a:latin typeface="Calibri"/>
              </a:defRPr>
            </a:pPr>
            <a:r>
              <a:t>Menjadi pijakan awal untuk melihat alur hulu permohonan, sebelum nantinya melangkah ke tahap pembayaran dan pengujian lab yang sesungguhnya.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2100" b="1">
                <a:solidFill>
                  <a:srgbClr val="18181B"/>
                </a:solidFill>
                <a:latin typeface="Calibri"/>
              </a:defRPr>
            </a:pPr>
            <a:r>
              <a:t>Catatan Evaluasi &amp; Tahap Selanjutnya</a:t>
            </a:r>
          </a:p>
          <a:p>
            <a:pPr>
              <a:spcBef>
                <a:spcPts val="300"/>
              </a:spcBef>
              <a:defRPr sz="1000" b="1">
                <a:solidFill>
                  <a:srgbClr val="6B7280"/>
                </a:solidFill>
                <a:latin typeface="Calibri"/>
              </a:defRPr>
            </a:pPr>
            <a:r>
              <a:t>PEKERJAAN RUMAH &amp; RENCANA PENYEMPURNAAN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320040"/>
            <a:ext cx="914400" cy="384048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09728"/>
          <a:lstStyle/>
          <a:p>
            <a:pPr algn="ctr">
              <a:defRPr sz="950">
                <a:solidFill>
                  <a:srgbClr val="6B7280"/>
                </a:solidFill>
                <a:latin typeface="Calibri"/>
              </a:defRPr>
            </a:pPr>
            <a:r>
              <a:t>SILOPTI | Balai Besar Standardisasi dan Pelayanan Jasa Industri Selulosa (BBSPJIS) — Kemenperin 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2179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550" b="1">
                <a:solidFill>
                  <a:srgbClr val="000000"/>
                </a:solidFill>
                <a:latin typeface="Calibri"/>
              </a:defRPr>
            </a:pPr>
            <a:r>
              <a:t>Pekerjaan yang Masih Perlu Dilakukan</a:t>
            </a:r>
          </a:p>
          <a:p>
            <a:pPr>
              <a:spcAft>
                <a:spcPts val="800"/>
              </a:spcAft>
              <a:defRPr sz="1150">
                <a:solidFill>
                  <a:srgbClr val="6B7280"/>
                </a:solidFill>
              </a:defRPr>
            </a:pPr>
            <a:r>
              <a:t>Sistem ini masih di tahap awal dan masih memiliki banyak pekerjaan rumah:</a:t>
            </a:r>
          </a:p>
          <a:p>
            <a:pPr>
              <a:spcBef>
                <a:spcPts val="600"/>
              </a:spcBef>
              <a:defRPr sz="1200" b="1">
                <a:solidFill>
                  <a:srgbClr val="18181B"/>
                </a:solidFill>
              </a:defRPr>
            </a:pPr>
            <a:r>
              <a:t>• Tahap 6 (Pembayaran):</a:t>
            </a:r>
          </a:p>
          <a:p>
            <a:pPr>
              <a:defRPr sz="1050">
                <a:solidFill>
                  <a:srgbClr val="374151"/>
                </a:solidFill>
              </a:defRPr>
            </a:pPr>
            <a:r>
              <a:t>Belum terintegrasi dengan pencatatan bukti bayar dan verifikasi dari bagian keuangan.</a:t>
            </a:r>
          </a:p>
          <a:p>
            <a:pPr>
              <a:spcBef>
                <a:spcPts val="600"/>
              </a:spcBef>
              <a:defRPr sz="1200" b="1">
                <a:solidFill>
                  <a:srgbClr val="18181B"/>
                </a:solidFill>
              </a:defRPr>
            </a:pPr>
            <a:r>
              <a:t>• Tahap 7 (Sampel Fisik):</a:t>
            </a:r>
          </a:p>
          <a:p>
            <a:pPr>
              <a:defRPr sz="1050">
                <a:solidFill>
                  <a:srgbClr val="374151"/>
                </a:solidFill>
              </a:defRPr>
            </a:pPr>
            <a:r>
              <a:t>Belum ada alur untuk mencatat penerimaan fisik sampel di laboratorium dan surat perintah menguji (SPM).</a:t>
            </a:r>
          </a:p>
          <a:p>
            <a:pPr>
              <a:spcBef>
                <a:spcPts val="600"/>
              </a:spcBef>
              <a:defRPr sz="1200" b="1">
                <a:solidFill>
                  <a:srgbClr val="18181B"/>
                </a:solidFill>
              </a:defRPr>
            </a:pPr>
            <a:r>
              <a:t>• Tahap 8 (Pengujian &amp; Hasil):</a:t>
            </a:r>
          </a:p>
          <a:p>
            <a:pPr>
              <a:defRPr sz="1050">
                <a:solidFill>
                  <a:srgbClr val="374151"/>
                </a:solidFill>
              </a:defRPr>
            </a:pPr>
            <a:r>
              <a:t>Belum mencakup modul pencatatan pengerjaan analisis lab hingga penerbitan Laporan Hasil Uji (LHU).</a:t>
            </a:r>
          </a:p>
          <a:p>
            <a:pPr>
              <a:spcBef>
                <a:spcPts val="600"/>
              </a:spcBef>
              <a:defRPr sz="1200" b="1">
                <a:solidFill>
                  <a:srgbClr val="18181B"/>
                </a:solidFill>
              </a:defRPr>
            </a:pPr>
            <a:r>
              <a:t>• Perbaikan &amp; Uji Coba:</a:t>
            </a:r>
          </a:p>
          <a:p>
            <a:pPr>
              <a:defRPr sz="1050">
                <a:solidFill>
                  <a:srgbClr val="374151"/>
                </a:solidFill>
              </a:defRPr>
            </a:pPr>
            <a:r>
              <a:t>Masih banyak penanganan eror, validasi input, dan penyesuaian alur kerja nyata yang harus diperbaiki.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4206240" cy="466344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73152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Mohon Bimbingan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F3F4F6"/>
                </a:solidFill>
              </a:defRPr>
            </a:pPr>
            <a:r>
              <a:t>SILOPTI BBSPJIS</a:t>
            </a:r>
          </a:p>
          <a:p>
            <a:pPr algn="ctr">
              <a:spcBef>
                <a:spcPts val="1600"/>
              </a:spcBef>
              <a:defRPr sz="1150">
                <a:solidFill>
                  <a:srgbClr val="6B7280"/>
                </a:solidFill>
              </a:defRPr>
            </a:pPr>
            <a:r>
              <a:t>Kami menyadari prototipe sistem ini masih jauh dari sempurna dan masih memiliki banyak kekurangan.</a:t>
            </a:r>
          </a:p>
          <a:p>
            <a:pPr algn="ctr">
              <a:spcBef>
                <a:spcPts val="1600"/>
              </a:spcBef>
              <a:defRPr sz="1150">
                <a:solidFill>
                  <a:srgbClr val="FFFFFF"/>
                </a:solidFill>
              </a:defRPr>
            </a:pPr>
            <a:r>
              <a:t>Kritik, masukan, dan arahan dari Bapak dan Ibu Mentor sekalian sangat kami harapkan untuk perbaikan ke depan.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