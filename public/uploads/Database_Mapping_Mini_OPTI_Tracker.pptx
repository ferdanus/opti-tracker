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49824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4748B"/>
                </a:solidFill>
              </a:rPr>
              <a:t>ARSITEKTUR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Pemetaan Tabel Database
terhadap Halaman Sistem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37560"/>
            <a:ext cx="10360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Mini OPTI Tracker  ·  Balai Besar Standardisasi dan Pelayanan Jasa Industri Selulosa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</a:rPr>
              <a:t>Progress Report  ·  September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Ringkasan Arsitektur Database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D9"/>
                </a:solidFill>
              </a:rPr>
              <a:t>2 Database  ·  11 Tabel Aktif  ·  Saling Terhubung Melalui Relasi FK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303520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303520" cy="50292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527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</a:rPr>
              <a:t>Database: db_sekretariat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(Sumber data eksternal dari sekretariat balai)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965960"/>
            <a:ext cx="5029200" cy="777240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20116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2563EB"/>
                </a:solidFill>
              </a:rPr>
              <a:t>surat_masuk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22860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4748B"/>
                </a:solidFill>
              </a:rPr>
              <a:t>Surat permohonan masuk dari klien eksternal.
Menyimpan nomor surat, nama instansi, file PDF.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188720"/>
            <a:ext cx="5879592" cy="5120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1188720"/>
            <a:ext cx="5879592" cy="502920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125272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81337"/>
                </a:solidFill>
              </a:rPr>
              <a:t>Database: mini_opti_tracker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60020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4748B"/>
                </a:solidFill>
              </a:rPr>
              <a:t>(Database utama sistem Mini OPTI Tracker)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74519"/>
            <a:ext cx="5577840" cy="402336"/>
          </a:xfrm>
          <a:prstGeom prst="rect">
            <a:avLst/>
          </a:prstGeom>
          <a:solidFill>
            <a:srgbClr val="FFF1F2"/>
          </a:solidFill>
          <a:ln w="9525">
            <a:solidFill>
              <a:srgbClr val="FC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911095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1337"/>
                </a:solidFill>
              </a:rPr>
              <a:t>order_layanan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2075688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Tabel induk seluruh alur order OPTI.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2322576"/>
            <a:ext cx="5577840" cy="402336"/>
          </a:xfrm>
          <a:prstGeom prst="rect">
            <a:avLst/>
          </a:prstGeom>
          <a:solidFill>
            <a:srgbClr val="FFF1F2"/>
          </a:solidFill>
          <a:ln w="9525">
            <a:solidFill>
              <a:srgbClr val="FC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235915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1337"/>
                </a:solidFill>
              </a:rPr>
              <a:t>tb_customer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523744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Data master perusahaan / klien pemohon.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0" y="2770632"/>
            <a:ext cx="5577840" cy="402336"/>
          </a:xfrm>
          <a:prstGeom prst="rect">
            <a:avLst/>
          </a:prstGeom>
          <a:solidFill>
            <a:srgbClr val="FFF1F2"/>
          </a:solidFill>
          <a:ln w="9525">
            <a:solidFill>
              <a:srgbClr val="FC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3640" y="280720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1337"/>
                </a:solidFill>
              </a:rPr>
              <a:t>opti_tinjauan_kelayakan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297180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Hasil kaji ulang kelayakan teknis ISO 17025.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3218688"/>
            <a:ext cx="5577840" cy="402336"/>
          </a:xfrm>
          <a:prstGeom prst="rect">
            <a:avLst/>
          </a:prstGeom>
          <a:solidFill>
            <a:srgbClr val="FFF1F2"/>
          </a:solidFill>
          <a:ln w="9525">
            <a:solidFill>
              <a:srgbClr val="FC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325526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1337"/>
                </a:solidFill>
              </a:rPr>
              <a:t>opti_proposal_riset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3419856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Proposal teknis &amp; RAB estimasi biaya.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6480" y="3666744"/>
            <a:ext cx="5577840" cy="402336"/>
          </a:xfrm>
          <a:prstGeom prst="rect">
            <a:avLst/>
          </a:prstGeom>
          <a:solidFill>
            <a:srgbClr val="FFF1F2"/>
          </a:solidFill>
          <a:ln w="9525">
            <a:solidFill>
              <a:srgbClr val="FC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3640" y="37033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1337"/>
                </a:solidFill>
              </a:rPr>
              <a:t>opti_activity_log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3867912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Audit trail semua aksi pengguna (timestamp WIB).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114800"/>
            <a:ext cx="5577840" cy="402336"/>
          </a:xfrm>
          <a:prstGeom prst="rect">
            <a:avLst/>
          </a:prstGeom>
          <a:solidFill>
            <a:srgbClr val="FFF1F2"/>
          </a:solidFill>
          <a:ln w="9525">
            <a:solidFill>
              <a:srgbClr val="FC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4151376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1337"/>
                </a:solidFill>
              </a:rPr>
              <a:t>tb_surat_penawaran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4315968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Surat Pelayanan Resmi &amp; respon negosiasi klien.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26480" y="4562856"/>
            <a:ext cx="5577840" cy="402336"/>
          </a:xfrm>
          <a:prstGeom prst="rect">
            <a:avLst/>
          </a:prstGeom>
          <a:solidFill>
            <a:srgbClr val="FFF1F2"/>
          </a:solidFill>
          <a:ln w="9525">
            <a:solidFill>
              <a:srgbClr val="FC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4599432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1337"/>
                </a:solidFill>
              </a:rPr>
              <a:t>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4764024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Petunjuk Operasional (PO) pekerjaan lab.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26480" y="5010912"/>
            <a:ext cx="5577840" cy="402336"/>
          </a:xfrm>
          <a:prstGeom prst="rect">
            <a:avLst/>
          </a:prstGeom>
          <a:solidFill>
            <a:srgbClr val="FFF1F2"/>
          </a:solidFill>
          <a:ln w="9525">
            <a:solidFill>
              <a:srgbClr val="FC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5047488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1337"/>
                </a:solidFill>
              </a:rPr>
              <a:t>tb_arsipuser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5212080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Akun login &amp; data pegawai balai.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5458968"/>
            <a:ext cx="5577840" cy="402336"/>
          </a:xfrm>
          <a:prstGeom prst="rect">
            <a:avLst/>
          </a:prstGeom>
          <a:solidFill>
            <a:srgbClr val="FFF1F2"/>
          </a:solidFill>
          <a:ln w="9525">
            <a:solidFill>
              <a:srgbClr val="FC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63640" y="5495544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1337"/>
                </a:solidFill>
              </a:rPr>
              <a:t>opti_user_map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660136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Pemetaan role pengguna sistem OPTI.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26480" y="5907024"/>
            <a:ext cx="5577840" cy="402336"/>
          </a:xfrm>
          <a:prstGeom prst="rect">
            <a:avLst/>
          </a:prstGeom>
          <a:solidFill>
            <a:srgbClr val="FFF1F2"/>
          </a:solidFill>
          <a:ln w="9525">
            <a:solidFill>
              <a:srgbClr val="FCCE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594360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1337"/>
                </a:solidFill>
              </a:rPr>
              <a:t>opti_notifikasi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6108192"/>
            <a:ext cx="53035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4748B"/>
                </a:solidFill>
              </a:rPr>
              <a:t>Notifikasi real-time antar pengguna sistem.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Slide 1  —  Modul: Surat Masuk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D9"/>
                </a:solidFill>
              </a:rPr>
              <a:t>Route: /surat-masuk  &amp;  /surat-masuk/simulasi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612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Surat Masuk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/surat-masuk  &amp;  /surat-masuk/simulasi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11548872" cy="347472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8424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Nama Tabel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84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842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yang Diambil / Fungsi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21992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76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surat_masuk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2377440"/>
            <a:ext cx="1463040" cy="23774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2404872"/>
            <a:ext cx="14081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563EB"/>
                </a:solidFill>
              </a:rPr>
              <a:t>db_sekretariat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7685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Sumber data utama surat permohonan dari klien. Mengambil nomor surat, nama instansi pemohon, perihal kegiatan, tanggal surat, dan path file PDF.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52344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072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surat_masuk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5728" y="2907792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93522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80720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Menyimpan status klaim surat (belum diklaim / sudah diklaim) dan ID petugas yang mengklaim.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82696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tb_customer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3438144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3465576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3375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Mencocokkan dan melengkapi profil perusahaan pemohon (PT/CV, kontak PIC, email, nomor telepon).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13048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67911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tb_arsipuser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5728" y="3968496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3995928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867911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Menampilkan nama petugas yang mengklaim surat pada kolom status klaim.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453128"/>
            <a:ext cx="11548872" cy="38404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079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24007"/>
                </a:solidFill>
              </a:rPr>
              <a:t>Catatan: db_sekretariat adalah database read-only eksternal yang dikelola sistem sekretariat balai.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Slide 2  —  Modul: Dashboard &amp; Daftar Order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D9"/>
                </a:solidFill>
              </a:rPr>
              <a:t>Route: /order  &amp;  /dashboard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612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Dashboard &amp; Daftar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/order  &amp;  /dashboard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11548872" cy="347472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8424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Nama Tabel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84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842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yang Diambil / Fungsi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21992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76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order_layanan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2377440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2404872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7685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Tabel utama. Menampilkan seluruh daftar order: nomor order, judul kegiatan, jenis layanan (Selulosa/Lingkungan), status tahapan, dan tanggal registrasi.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52344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072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tb_customer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5728" y="2907792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93522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80720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Mengambil nama resmi perusahaan klien (PT/CV) untuk ditampilkan di kolom nama klien pada tabel daftar order.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82696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tb_arsipuser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3438144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3465576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3375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Mengambil nama lengkap petugas Admin Order yang meregistrasi order dan nama PIC Peneliti yang ditugaskan.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13048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67911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opti_user_map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5728" y="3968496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3995928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867911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Memfilter daftar order berdasarkan hak akses pengguna yang sedang login (role: superadmin, ketua_tim, tim_kerja, admin_order, pejabat).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343400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398264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opti_notifikasi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395728" y="4498848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50592" y="4526280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0" y="4398264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Mengambil jumlah notifikasi yang belum dibaca untuk ditampilkan sebagai badge lonceng di header navigasi.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Slide 3  —  Modul: Tahap 2 — Kaji Ulang Kelayakan Teknis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D9"/>
                </a:solidFill>
              </a:rPr>
              <a:t>Route: /order/@id/tinjauan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612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Tahap 2 — Kaji Ulang Kelayakan Teknis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/order/@id/tinjauan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11548872" cy="347472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8424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Nama Tabel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84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842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yang Diambil / Fungsi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21992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76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order_layanan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2377440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2404872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7685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Mengambil informasi order induk (judul kegiatan, jenis layanan, ID klien) sebagai konteks tampilan halaman.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52344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072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opti_tinjauan_kelayakan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5728" y="2907792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93522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80720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Menyimpan dan mengambil hasil evaluasi: 4 checklist kesiapan (SDM, Alat, Bahan, Metode Uji), keputusan (Dapat/Tidak Dapat Dilaksanakan), catatan per aspek, alasan penolakan, dan nama PIC yang ditugaskan.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82696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tb_arsipuser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3438144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3465576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3375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Menampilkan dropdown daftar peneliti pelaksana yang dapat dipilih Ketua Tim sebagai PIC Proposal.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13048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67911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opti_user_map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5728" y="3968496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3995928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867911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Memfilter dropdown PIC hanya menampilkan pengguna berole tim_kerja pada jenis layanan yang sesuai.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453128"/>
            <a:ext cx="11548872" cy="38404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079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24007"/>
                </a:solidFill>
              </a:rPr>
              <a:t>Catatan: Halaman ini hanya dapat diedit oleh Ketua Tim. Role lain hanya dapat melihat (Mode Lihat Saja).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Slide 4  —  Modul: Tahap 3 — Proposal Teknis &amp; RAB Biaya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D9"/>
                </a:solidFill>
              </a:rPr>
              <a:t>Route: /order/@id/proposal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612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Tahap 3 — Proposal Teknis &amp; RAB Biaya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/order/@id/proposal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11548872" cy="347472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8424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Nama Tabel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84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842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yang Diambil / Fungsi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21992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76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order_layanan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2377440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2404872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7685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Mengambil data order induk dan ID PIC Proposal yang ditugaskan untuk menentukan hak edit halaman.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52344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072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opti_proposal_riset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5728" y="2907792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93522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80720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Menyimpan dan mengambil isi proposal teknis: metodologi, durasi estimasi, rincian RAB biaya, file PDF berkas proposal, dan status persetujuan (draft, diajukan, disetujui, revisi).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82696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opti_activity_log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3438144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3465576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3375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Menampilkan Audit Trail / Timeline riwayat semua aksi: siapa yang membuat draft, mengajukan, menyetujui, atau meminta revisi. Menyimpan timestamp WIB, nama aktor, role, dan IP address.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13048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67911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tb_arsipuser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5728" y="3968496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3995928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867911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Mengambil nama lengkap pelaku aksi pada Audit Trail (audit log menampilkan nama bukan ID).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453128"/>
            <a:ext cx="11548872" cy="38404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079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24007"/>
                </a:solidFill>
              </a:rPr>
              <a:t>Catatan: Halaman ini hanya dapat diedit oleh PIC Peneliti yang ditugaskan. Ketua Tim dapat menyetujui atau meminta revisi.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Slide 5  —  Modul: Tahap 4 — Surat Pelayanan Resmi &amp; Negosiasi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D9"/>
                </a:solidFill>
              </a:rPr>
              <a:t>Route: /order/@id/penawaran  &amp;  /surat-penawaran/@id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612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Tahap 4 — Surat Pelayanan Resmi &amp; Negosiasi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/order/@id/penawaran  &amp;  /surat-penawaran/@id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11548872" cy="347472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8424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Nama Tabel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84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842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yang Diambil / Fungsi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21992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76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order_layanan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2377440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2404872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7685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Mengambil data order induk sebagai konteks, memperbarui status tahapan order setelah surat diterbitkan.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52344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072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tb_surat_penawaran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5728" y="2907792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93522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80720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Menyimpan dan mengambil Surat Pelayanan Resmi: nomor surat, tanggal penerbitan, nilai penawaran biaya, status respon klien (Deal / Negosiasi / Batal).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82696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tb_customer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3438144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3465576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3375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Mengambil data penerima surat: nama resmi perusahaan, alamat, nama PIC klien, email, dan nomor telepon untuk header surat.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13048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67911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opti_activity_log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5728" y="3968496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3995928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867911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Mencatat aksi penerbitan surat, perubahan status negosiasi, dan konfirmasi Deal/Batal ke dalam audit trail.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453128"/>
            <a:ext cx="11548872" cy="38404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079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24007"/>
                </a:solidFill>
              </a:rPr>
              <a:t>Catatan: Hanya Admin Order (Tim Kemitraan) yang dapat menerbitkan dan mengedit Surat Pelayanan Resmi.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Slide 6  —  Modul: Tahap 5 — Petunjuk Operasional (PO)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D9"/>
                </a:solidFill>
              </a:rPr>
              <a:t>Route: /order/@id  →  Tab PO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612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Tahap 5 — Petunjuk Operasional (PO)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/order/@id  →  Tab PO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11548872" cy="347472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8424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Nama Tabel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84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842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yang Diambil / Fungsi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21992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76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order_layanan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2377440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2404872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7685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Mengambil data order induk, memperbarui status tahapan ke 'PO Diterbitkan' setelah PO dibuat.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52344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072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po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5728" y="2907792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93522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80720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Menyimpan dan mengambil data PO: nomor Petunjuk Operasional, tanggal terbit PO, nama pekerjaan, dan status pengerjaan laboratorium.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82696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tb_customer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3438144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3465576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3375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Mengambil nama klien untuk ditampilkan pada dokumen PO.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13048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67911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opti_activity_log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5728" y="3968496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3995928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867911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Mencatat aksi penerbitan PO ke dalam audit trail sistem.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4453128"/>
            <a:ext cx="11548872" cy="384048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45079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24007"/>
                </a:solidFill>
              </a:rPr>
              <a:t>Catatan: PO hanya dapat diterbitkan setelah Surat Pelayanan berstatus Deal dari klien.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Slide 7  —  Modul: Autentikasi Login &amp; Manajemen Hak Akses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D9"/>
                </a:solidFill>
              </a:rPr>
              <a:t>Route: /login  &amp;  Seluruh Modul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50292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70432"/>
            <a:ext cx="502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16128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172A"/>
                </a:solidFill>
              </a:rPr>
              <a:t>Autentikasi Login &amp; Manajemen Hak Akses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50876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64748B"/>
                </a:solidFill>
              </a:rPr>
              <a:t>/login  &amp;  Seluruh Modul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874519"/>
            <a:ext cx="11548872" cy="347472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984248"/>
            <a:ext cx="1920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Nama Tabel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1984248"/>
            <a:ext cx="1097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84248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Data yang Diambil / Fungsi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221992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276856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tb_arsipuser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95728" y="2377440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50592" y="2404872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276856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Validasi login: mencocokkan username + password. Mengambil nama lengkap, bidang, dan foto profil pengguna yang sedang aktif.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752344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07208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opti_user_map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95728" y="2907792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935224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807208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Menentukan role pengguna setelah login (superadmin, admin_order, ketua_tim, tim_kerja, pejabat) dan jenis layanan yang diakses (Selulosa / Lingkungan / Semua).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3282696"/>
            <a:ext cx="11548872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337560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opti_notifikasi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95728" y="3438144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450592" y="3465576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3337560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Menyimpan dan mengambil notifikasi real-time per pengguna: penugasan sebagai PIC, persetujuan proposal, penerbitan surat, dll.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813048"/>
            <a:ext cx="11548872" cy="5303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67911"/>
            <a:ext cx="19202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81337"/>
                </a:solidFill>
              </a:rPr>
              <a:t>opti_activity_log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95728" y="3968496"/>
            <a:ext cx="1737360" cy="237744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50592" y="3995928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81337"/>
                </a:solidFill>
              </a:rPr>
              <a:t>mini_opti_tracker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0" y="3867911"/>
            <a:ext cx="8046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F172A"/>
                </a:solidFill>
              </a:rPr>
              <a:t>Mencatat semua aktivitas login, perubahan data, dan aksi penting di seluruh modul sistem (timestamp WIB, IP address, role aktor).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0972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Diagram Relasi Antar Tabel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CCD9"/>
                </a:solidFill>
              </a:rPr>
              <a:t>Semua modul terhubung melalui order_layanan sebagai tabel induk utama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2743200"/>
            <a:ext cx="2651760" cy="640080"/>
          </a:xfrm>
          <a:prstGeom prst="rect">
            <a:avLst/>
          </a:prstGeom>
          <a:solidFill>
            <a:srgbClr val="88133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2816352"/>
            <a:ext cx="26517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order_layanan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914400"/>
            <a:ext cx="2651760" cy="658368"/>
          </a:xfrm>
          <a:prstGeom prst="rect">
            <a:avLst/>
          </a:prstGeom>
          <a:solidFill>
            <a:srgbClr val="EFF6FF"/>
          </a:solidFill>
          <a:ln w="952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960120"/>
            <a:ext cx="250545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563EB"/>
                </a:solidFill>
              </a:rPr>
              <a:t>surat_masuk
(db_sekretariat)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651760"/>
            <a:ext cx="2651760" cy="502920"/>
          </a:xfrm>
          <a:prstGeom prst="rect">
            <a:avLst/>
          </a:prstGeom>
          <a:solidFill>
            <a:srgbClr val="FFF1F2"/>
          </a:solidFill>
          <a:ln w="9525"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697479"/>
            <a:ext cx="25054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1337"/>
                </a:solidFill>
              </a:rPr>
              <a:t>tb_customer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297680"/>
            <a:ext cx="2651760" cy="658368"/>
          </a:xfrm>
          <a:prstGeom prst="rect">
            <a:avLst/>
          </a:prstGeom>
          <a:solidFill>
            <a:srgbClr val="F0FDF4"/>
          </a:solidFill>
          <a:ln w="952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4343400"/>
            <a:ext cx="250545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6A34A"/>
                </a:solidFill>
              </a:rPr>
              <a:t>tb_arsipuser
+ opti_user_map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914400"/>
            <a:ext cx="2651760" cy="502920"/>
          </a:xfrm>
          <a:prstGeom prst="rect">
            <a:avLst/>
          </a:prstGeom>
          <a:solidFill>
            <a:srgbClr val="FFF1F2"/>
          </a:solidFill>
          <a:ln w="9525"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8032" y="960120"/>
            <a:ext cx="25054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1337"/>
                </a:solidFill>
              </a:rPr>
              <a:t>opti_tinjauan_kelayakan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4572000"/>
            <a:ext cx="2651760" cy="502920"/>
          </a:xfrm>
          <a:prstGeom prst="rect">
            <a:avLst/>
          </a:prstGeom>
          <a:solidFill>
            <a:srgbClr val="FFF1F2"/>
          </a:solidFill>
          <a:ln w="9525">
            <a:solidFill>
              <a:srgbClr val="8813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28032" y="4617720"/>
            <a:ext cx="25054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881337"/>
                </a:solidFill>
              </a:rPr>
              <a:t>opti_proposal_riset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1120" y="914400"/>
            <a:ext cx="2651760" cy="50292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34272" y="960120"/>
            <a:ext cx="25054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tb_surat_penawaran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2651760"/>
            <a:ext cx="2651760" cy="502920"/>
          </a:xfrm>
          <a:prstGeom prst="rect">
            <a:avLst/>
          </a:prstGeom>
          <a:solidFill>
            <a:srgbClr val="FFFBEB"/>
          </a:solidFill>
          <a:ln w="9525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34272" y="2697479"/>
            <a:ext cx="2505456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D97706"/>
                </a:solidFill>
              </a:rPr>
              <a:t>po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61120" y="4297680"/>
            <a:ext cx="2651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34272" y="4343400"/>
            <a:ext cx="2505456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64748B"/>
                </a:solidFill>
              </a:rPr>
              <a:t>opti_activity_log
+ opti_notifikasi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806440"/>
            <a:ext cx="1164031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5989320"/>
            <a:ext cx="164592" cy="164592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5989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Tabel inti order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97480" y="5989320"/>
            <a:ext cx="164592" cy="1645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07792" y="5989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Tabel sekretariat (read-only)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37760" y="5989320"/>
            <a:ext cx="164592" cy="16459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48072" y="5989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Tabel autentikasi &amp; akses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78040" y="5989320"/>
            <a:ext cx="164592" cy="16459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88352" y="5989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Tabel output dokumen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418320" y="5989320"/>
            <a:ext cx="164592" cy="16459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28632" y="598932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0F172A"/>
                </a:solidFill>
              </a:rPr>
              <a:t>Tabel log &amp; notifikasi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88952" cy="54864"/>
          </a:xfrm>
          <a:prstGeom prst="rect">
            <a:avLst/>
          </a:prstGeom>
          <a:solidFill>
            <a:srgbClr val="8813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49824"/>
            <a:ext cx="12188952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4748B"/>
                </a:solidFill>
              </a:rPr>
              <a:t>Ringkasan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103601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2 Database  ·  11 Tabel Aktif
Seluruh Modul Saling Terkoneksi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63240"/>
            <a:ext cx="103601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</a:rPr>
              <a:t>Setiap halaman sistem memanggil tabel yang relevan secara relasional
melalui order_layanan sebagai tabel induk utama.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01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4748B"/>
                </a:solidFill>
              </a:rPr>
              <a:t>Mini OPTI Tracker  ·  BBSPJIS Bandung  ·  September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