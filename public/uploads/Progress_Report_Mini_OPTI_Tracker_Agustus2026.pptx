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3017520"/>
            <a:ext cx="4572000" cy="4572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0" y="3657600"/>
            <a:ext cx="3291840" cy="329184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6B6D4"/>
                </a:solidFill>
              </a:rPr>
              <a:t>PROGRESS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Mini OPTI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0584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93C5FD"/>
                </a:solidFill>
              </a:rPr>
              <a:t>Sistem Informasi Manajemen Pelayanan Jasa Industri
Bidang OPTI — BBSPJIS Kementerian Perindustrian 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5029200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Disusun Oleh: Ferdanus  ·  Periode: Agustus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Dipresentasikan kepada: Mentor / Pembimbing PKL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1170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Mini OPTI Tracker  ·  Progress Report  ·  Agustus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Latar Belakang &amp; Tujuan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Mengapa Mini OPTI Tracker dibangun?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394960" cy="49834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539496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27048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🔍  Kondisi Sebelumnya (Manual)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Permohonan surat klien dicatat manual di spreadsheet.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Tidak ada tracking tahapan: siapa mengerjakan apa &amp; kapan.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79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Sering terjadi miskomunikasi antara Tim Mitra, Peneliti, &amp; Ka. Tim.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63239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Tidak ada audit trail siapa yang menyetujui/mengirimkan dokumen.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28999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Notifikasi ke pihak terkait dilakukan verbal / via WhatsApp.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94759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Proposal teknis &amp; RAB dikirim melalui email tanpa versi resmi.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5120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Data pelanggan dan riwayat order tidak terdokumentasi sistematis.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508760"/>
            <a:ext cx="5486400" cy="49834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508760"/>
            <a:ext cx="548640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527048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🎯  Tujuan Sistem Mini OPTI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65960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✅  Digitalisasi seluruh alur permohonan dan pelayanan jasa OPTI.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31720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✅  Mempermudah koordinasi Tim Kemitraan, Peneliti, &amp; Ka. Tim.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97479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✅  Menghadirkan audit trail otomatis untuk setiap aksi kritis.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63239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✅  Mempercepat penerbitan Proposal Teknis &amp; Surat Penawaran.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28999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✅  Notifikasi real-time antar peran dalam sistem.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794759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✅  Menyimpan riwayat order &amp; dokumen secara terpusat.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160520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✅  Monitoring status PO / pengerjaan di laboratorium.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56248"/>
            <a:ext cx="1170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Mini OPTI Tracker  ·  Progress Report  ·  Agustus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Arsitektur &amp; Teknologi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Stack teknologi yang digunakan dalam pengembangan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2918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2918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64207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1D4ED8"/>
                </a:solidFill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64207"/>
            <a:ext cx="2468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48840"/>
            <a:ext cx="3017520" cy="8229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PHP (Fat-Free Framework)
MVC Pattern, Custom Router
&amp; Controller-Repository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2918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2918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64207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1D4ED8"/>
                </a:solidFill>
              </a:rPr>
              <a:t>🗄️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664207"/>
            <a:ext cx="2468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48840"/>
            <a:ext cx="3017520" cy="8229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MySQL (2 Database)
mini_opti_tracker (utama)
db_sekretariat (eksternal)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32918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32918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664207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1D4ED8"/>
                </a:solidFill>
              </a:rP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664207"/>
            <a:ext cx="2468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148840"/>
            <a:ext cx="3017520" cy="8229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Bootstrap 5.3, HTML5
Vanilla JS + Custom CSS
Responsive &amp; Mobile-Ready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337560"/>
            <a:ext cx="32918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337560"/>
            <a:ext cx="32918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447288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1D4ED8"/>
                </a:solidFill>
              </a:rP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447288"/>
            <a:ext cx="2468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PDF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931920"/>
            <a:ext cx="3017520" cy="8229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FPDF2 Library
Generate Proposal, Surat
Penawaran &amp; BAST otomatis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337560"/>
            <a:ext cx="32918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3337560"/>
            <a:ext cx="32918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3447288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1D4ED8"/>
                </a:solidFill>
              </a:rPr>
              <a:t>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447288"/>
            <a:ext cx="2468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Auth &amp; ACL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931920"/>
            <a:ext cx="3017520" cy="8229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Session-based Auth
Role-based Access Control
5 Peran Pengguna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337560"/>
            <a:ext cx="32918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337560"/>
            <a:ext cx="32918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3447288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1D4ED8"/>
                </a:solidFill>
              </a:rPr>
              <a:t>🖥️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447288"/>
            <a:ext cx="2468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3931920"/>
            <a:ext cx="3017520" cy="8229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XAMPP / Apache
Localhost Development
MySQL 8.x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56248"/>
            <a:ext cx="1170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Mini OPTI Tracker  ·  Progress Report  ·  Agustus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Peran Pengguna dalam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5 Role dengan hak akses berbeda-beda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1640312" cy="841248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73152" cy="8412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55063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8191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Superadmin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563624"/>
            <a:ext cx="841248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Akses penuh ke seluruh sistem.
Manajemen user, konfigurasi, &amp; override semua tahapan.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68880"/>
            <a:ext cx="11640312" cy="841248"/>
          </a:xfrm>
          <a:prstGeom prst="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68880"/>
            <a:ext cx="73152" cy="8412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15184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1D4ED8"/>
                </a:solidFill>
              </a:rPr>
              <a:t>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4203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Ketua Tim OPTI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523744"/>
            <a:ext cx="841248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Kaji ulang kelayakan teknis (ISO 17025).
Setujui / tolak Proposal Teknis &amp; Biaya (RAB).
Tunjuk PIC Peneliti untuk setiap order.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11640312" cy="841248"/>
          </a:xfrm>
          <a:prstGeom prst="rect">
            <a:avLst/>
          </a:prstGeom>
          <a:solidFill>
            <a:srgbClr val="F1F5F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429000"/>
            <a:ext cx="73152" cy="8412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75304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06B6D4"/>
                </a:solidFill>
              </a:rPr>
              <a:t>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0215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Tim Kerja / PIC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483864"/>
            <a:ext cx="841248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Susun Proposal Teknis &amp; Biaya (RAB).
Ajukan proposal ke Ketua Tim.
Upload berkas dokumen proposal PDF.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389120"/>
            <a:ext cx="11640312" cy="841248"/>
          </a:xfrm>
          <a:prstGeom prst="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389120"/>
            <a:ext cx="73152" cy="8412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535424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16A34A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46227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Admin Order
(Tim Kemitraan)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443984"/>
            <a:ext cx="841248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Klaim &amp; kelola surat permohonan masuk.
Terbitkan Surat Pelayanan Resmi.
Catat respon kesepakatan pelanggan (Deal/Batal).
Terbitkan Petunjuk Operasional (PO).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349240"/>
            <a:ext cx="11640312" cy="841248"/>
          </a:xfrm>
          <a:prstGeom prst="rect">
            <a:avLst/>
          </a:prstGeom>
          <a:solidFill>
            <a:srgbClr val="F1F5F9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349240"/>
            <a:ext cx="73152" cy="84124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495544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CA8A04"/>
                </a:solidFill>
              </a:rPr>
              <a:t>🏛️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422392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Pejabat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404103"/>
            <a:ext cx="841248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Akses baca semua data order &amp; laporan.
Partisipasi dalam penyusunan proposal.
Monitoring tanpa akses ubah data sensitif.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56248"/>
            <a:ext cx="1170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Mini OPTI Tracker  ·  Progress Report  ·  Agustus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Alur Kerja Sistem — 5 Tahap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Dari surat masuk hingga penerbitan PO / pelaksanaan teknis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5" y="1508760"/>
            <a:ext cx="2103120" cy="4114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5003" y="1709928"/>
            <a:ext cx="694944" cy="6949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003" y="1737360"/>
            <a:ext cx="694944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" y="2651760"/>
            <a:ext cx="1920239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Penerimaan
Surat Masuk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" y="3429000"/>
            <a:ext cx="1920239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0" i="0">
                <a:solidFill>
                  <a:srgbClr val="BAD3FC"/>
                </a:solidFill>
              </a:rPr>
              <a:t>Sekretariat daftarkan surat.
Tim Mitra klaim &amp; buat order.
Disposisi ke bidang OPTI.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4035" y="32461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6B6D4"/>
                </a:solidFill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6915" y="1508760"/>
            <a:ext cx="2103120" cy="4114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61003" y="1709928"/>
            <a:ext cx="694944" cy="6949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1003" y="1737360"/>
            <a:ext cx="694944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8356" y="2651760"/>
            <a:ext cx="1920239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Kaji Ulang
Kelayakan Teknis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8356" y="3429000"/>
            <a:ext cx="1920239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0" i="0">
                <a:solidFill>
                  <a:srgbClr val="BAD3FC"/>
                </a:solidFill>
              </a:rPr>
              <a:t>Ketua Tim evaluasi SDM,
alat, bahan &amp; metode.
Tunjuk PIC Peneliti.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0036" y="32461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6B6D4"/>
                </a:solidFill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2916" y="1508760"/>
            <a:ext cx="2103120" cy="4114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47003" y="1709928"/>
            <a:ext cx="694944" cy="6949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7003" y="1737360"/>
            <a:ext cx="694944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4355" y="2651760"/>
            <a:ext cx="1920239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Penyusunan
Proposal &amp; RAB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4355" y="3429000"/>
            <a:ext cx="1920239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0" i="0">
                <a:solidFill>
                  <a:srgbClr val="BAD3FC"/>
                </a:solidFill>
              </a:rPr>
              <a:t>PIC buat Proposal Teknis.
Estimasi biaya &amp; durasi.
Ajukan ke Ka. Tim.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6036" y="32461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6B6D4"/>
                </a:solidFill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8916" y="1508760"/>
            <a:ext cx="2103120" cy="4114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3004" y="1709928"/>
            <a:ext cx="694944" cy="6949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3004" y="1737360"/>
            <a:ext cx="694944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0356" y="2651760"/>
            <a:ext cx="1920239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Surat Pelayanan
&amp; Negosiasi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0356" y="3429000"/>
            <a:ext cx="1920239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0" i="0">
                <a:solidFill>
                  <a:srgbClr val="BAD3FC"/>
                </a:solidFill>
              </a:rPr>
              <a:t>Admin buat Surat Penawaran.
Kirim ke pelanggan.
Catat Deal / Batal.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2036" y="32461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6B6D4"/>
                </a:solidFill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4916" y="1508760"/>
            <a:ext cx="2103120" cy="4114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19004" y="1709928"/>
            <a:ext cx="694944" cy="6949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19004" y="1737360"/>
            <a:ext cx="694944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6356" y="2651760"/>
            <a:ext cx="1920239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Petunjuk
Operasional (PO)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6356" y="3429000"/>
            <a:ext cx="1920239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0" i="0">
                <a:solidFill>
                  <a:srgbClr val="BAD3FC"/>
                </a:solidFill>
              </a:rPr>
              <a:t>PO diterbitkan setelah Deal.
Lab mulai pengerjaan.
Monitoring berjalan.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06440"/>
            <a:ext cx="11457432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833872"/>
            <a:ext cx="111556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1D4ED8"/>
                </a:solidFill>
              </a:rPr>
              <a:t>📋  Setiap aksi pada semua tahapan dicatat otomatis di Jejak Audit (Audit Trail) — berisi: siapa, apa yang dilakukan, kapan (timestamp WIB presisi), dan IP address.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56248"/>
            <a:ext cx="1170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Mini OPTI Tracker  ·  Progress Report  ·  Agustus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Fitur Utama yang Telah Diimplementasi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Status pengembangan seluruh modul yang sudah selesai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429000" cy="13898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34290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64008" cy="1389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002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16A34A"/>
                </a:solidFill>
              </a:rPr>
              <a:t>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75688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Manajemen Surat Masuk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404872"/>
            <a:ext cx="3154680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Klaim surat → buat order otomatis, pratinjau PDF surat permohonan klien, pencarian &amp; filter surat.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2" y="1508760"/>
            <a:ext cx="3429000" cy="13898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96512" y="1508760"/>
            <a:ext cx="34290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6512" y="1508760"/>
            <a:ext cx="64008" cy="1389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6002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16A34A"/>
                </a:solidFill>
              </a:rP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2075688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Proposal Teknis &amp; RAB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2404872"/>
            <a:ext cx="3154680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Ruang kerja proposal per order, input estimasi biaya dengan format Rupiah otomatis, upload berkas PDF proposal.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7264" y="1508760"/>
            <a:ext cx="3429000" cy="13898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27264" y="1508760"/>
            <a:ext cx="34290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27264" y="1508760"/>
            <a:ext cx="64008" cy="1389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1856" y="16002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16A34A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2075688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Audit Trail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1856" y="2404872"/>
            <a:ext cx="3154680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Riwayat lengkap: siapa mengajukan/menyetujui/meminta revisi proposal, beserta timestamp &amp; IP address di timeline visual.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035808"/>
            <a:ext cx="3429000" cy="13898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035808"/>
            <a:ext cx="34290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035808"/>
            <a:ext cx="64008" cy="1389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12724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16A34A"/>
                </a:solidFill>
              </a:rPr>
              <a:t>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602736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Notifikasi Real-time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3931920"/>
            <a:ext cx="3154680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Notifikasi lonceng otomatis: Ka. Tim dinotifikasi saat proposal diajukan, PIC dinotifikasi saat disetujui / diminta revisi.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96512" y="3035808"/>
            <a:ext cx="3429000" cy="13898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96512" y="3035808"/>
            <a:ext cx="34290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96512" y="3035808"/>
            <a:ext cx="64008" cy="1389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1104" y="312724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16A34A"/>
                </a:solidFill>
              </a:rP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1104" y="3602736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Kaji Ulang Kelayakan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1104" y="3931920"/>
            <a:ext cx="3154680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Checklist ISO 17025 (SDM, alat, bahan, metode), penunjukan PIC peneliti, catatan arahan teknis Ka. Tim.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27264" y="3035808"/>
            <a:ext cx="3429000" cy="13898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27264" y="3035808"/>
            <a:ext cx="34290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27264" y="3035808"/>
            <a:ext cx="64008" cy="1389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91856" y="312724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16A34A"/>
                </a:solidFill>
              </a:rPr>
              <a:t>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1856" y="3602736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Surat Penawaran PDF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3931920"/>
            <a:ext cx="3154680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Generate PDF Surat Pelayanan Resmi otomatis, pencatatan respon pelanggan (Deal/Batal/Negosiasi).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562856"/>
            <a:ext cx="3429000" cy="13898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4562856"/>
            <a:ext cx="34290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4562856"/>
            <a:ext cx="64008" cy="1389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654296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16A34A"/>
                </a:solidFill>
              </a:rPr>
              <a:t>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5129784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Petunjuk Operasional PO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5458968"/>
            <a:ext cx="3154680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Penerbitan PO setelah Deal, dashboard monitoring PO di laboratorium.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96512" y="4562856"/>
            <a:ext cx="3429000" cy="13898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96512" y="4562856"/>
            <a:ext cx="34290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96512" y="4562856"/>
            <a:ext cx="64008" cy="1389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61104" y="4654296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16A34A"/>
                </a:solidFill>
              </a:rPr>
              <a:t>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61104" y="5129784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7 Data Surat Dummy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1104" y="5458968"/>
            <a:ext cx="3154680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Tersedia 7 surat permohonan lengkap (3 Lingkungan, 4 Selulosa) beserta PDF dokumen resmi masing-masing instansi.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27264" y="4562856"/>
            <a:ext cx="3429000" cy="138988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27264" y="4562856"/>
            <a:ext cx="34290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27264" y="4562856"/>
            <a:ext cx="64008" cy="1389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91856" y="4654296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16A34A"/>
                </a:solidFill>
              </a:rPr>
              <a:t>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91856" y="5129784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Desain Responsif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91856" y="5458968"/>
            <a:ext cx="3154680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Tampilan Bootstrap 5.3 modern, sidebar navigasi bersih, halaman order detail multi-tahap yang rapi &amp; terstruktur.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556248"/>
            <a:ext cx="1170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Mini OPTI Tracker  ·  Progress Report  ·  Agustus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Struktur Database yang Digunakan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11 tabel aktif di 2 database terpisah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320040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86200" y="1508760"/>
            <a:ext cx="713232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3017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Nama Tabel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554480"/>
            <a:ext cx="6949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Fungsi / Keperluan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92807"/>
            <a:ext cx="320040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892807"/>
            <a:ext cx="713232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947672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surat_masuk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947672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Berkas surat permohonan masuk dari klien industri.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22576"/>
            <a:ext cx="3200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2322576"/>
            <a:ext cx="7132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37744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order_layanan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377440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Tabel induk utama seluruh siklus order dari klaim hingga PO.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52344"/>
            <a:ext cx="320040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2752344"/>
            <a:ext cx="713232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807208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tb_customer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807208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Master data perusahaan / mitra industri pemohon layanan.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182111"/>
            <a:ext cx="3200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3182111"/>
            <a:ext cx="7132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236975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tb_arsipuser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236975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Akun &amp; data pegawai (username, nama, password, bidang).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611879"/>
            <a:ext cx="320040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86200" y="3611879"/>
            <a:ext cx="713232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666744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opti_user_map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666744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Pemetaan peran &amp; hak akses per pengguna modul OPTI.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041648"/>
            <a:ext cx="3200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86200" y="4041648"/>
            <a:ext cx="7132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096511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opti_tinjauan_kelayakan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096511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Hasil kaji ulang kelayakan teknis ISO 17025 &amp; penunjukan PIC.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471416"/>
            <a:ext cx="320040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4471416"/>
            <a:ext cx="713232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526279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opti_proposal_riset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4526279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Proposal teknis, RAB, file PDF, &amp; status approval per order.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901183"/>
            <a:ext cx="3200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86200" y="4901183"/>
            <a:ext cx="7132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4956047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opti_activity_log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4956047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Jejak audit otomatis: siapa, aksi apa, kapan, &amp; IP address.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330952"/>
            <a:ext cx="320040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86200" y="5330952"/>
            <a:ext cx="713232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5385816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tb_surat_penawaran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5385816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Surat Pelayanan Resmi &amp; pencatatan respon Deal/Batal klien.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760719"/>
            <a:ext cx="3200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5760719"/>
            <a:ext cx="7132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815583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po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5815583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Data Petunjuk Operasional (surat tugas pengerjaan laboratorium).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6190488"/>
            <a:ext cx="320040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86200" y="6190488"/>
            <a:ext cx="713232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6245351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opti_notifikasi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3360" y="6245351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Notifikasi lonceng real-time antar peran dalam sistem.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61120" y="1508760"/>
            <a:ext cx="283464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98280" y="1572768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🗄️  2 Database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8280" y="1965960"/>
            <a:ext cx="2560320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mini_opti_tracker
→ Database utama aplikasi
   (10 tabel aktif)
db_sekretariat
→ Database eksternal
   surat permohonan
   (1 tabel: surat_masuk)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556248"/>
            <a:ext cx="1170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Mini OPTI Tracker  ·  Progress Report  ·  Agustus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Status Progress &amp; Rencana Selanjutnya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Apa yang sudah selesai dan apa yang direncanakan berikutnya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486400" cy="50292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48640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30352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Sudah Selesai / Berjalan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✅  Modul Surat Masuk: klaim, pratinjau PDF, buat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59152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✅  Kaji Ulang Kelayakan Teknis ISO 17025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52344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✅  Ruang Proposal Teknis &amp; Input RAB (format Rp otomatis)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45536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✅  Workflow Pengajuan &amp; Approval Proposal Ka. Tim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38728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✅  Jejak Audit Otomatis (siapa, kapan, IP address)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✅  Surat Penawaran PDF Resmi &amp; Pencatatan Respon Klien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25112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✅  Penerbitan Petunjuk Operasional (PO)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18304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✅  Notifikasi Real-time Lonceng Antar Peran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11496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✅  Navigasi Sidebar bersih dengan kontrol akses per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04688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✅  7 Data Surat Dummy Lingkungan &amp; Selulosa +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97879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✅  Simulasi Sekretariat untuk uji coba surat masuk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2512" y="1508760"/>
            <a:ext cx="5486400" cy="5029200"/>
          </a:xfrm>
          <a:prstGeom prst="rect">
            <a:avLst/>
          </a:prstGeom>
          <a:solidFill>
            <a:srgbClr val="FFF7ED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2512" y="1508760"/>
            <a:ext cx="5486400" cy="3657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1527048"/>
            <a:ext cx="530352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🚧  Rencana Pengembangan Selanjutnya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1965960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🔄  Modul BAST (Berita Acara Serah Terima) &amp; LHP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468880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🔄  Modul Kontrak PKS antar BBSPJIS &amp; klien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2971800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🔄  Modul Pembayaran PNBP &amp; Invoice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3474720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🔄  Kalender Jadwal Pengerjaan Lab (Gantt / timeline)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3977639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🔄  Laporan Rekap Order per Periode (PDF/Excel)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480559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🔄  Dashboard Statistik Lengkap Ka. Tim &amp; Pejabat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4983479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🔄  Pengujian lebih lanjut dengan data riil BBSPJIS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5486399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🔄  Penyempurnaan tampilan mobile &amp; aksesibilitas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56248"/>
            <a:ext cx="1170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Mini OPTI Tracker  ·  Progress Report  ·  Agustus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017520"/>
            <a:ext cx="4023360" cy="40233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657600"/>
            <a:ext cx="2743200" cy="2743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06B6D4"/>
                </a:solidFill>
              </a:rPr>
              <a:t>Mini OPTI Tracker — Progress Report Agustus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73552"/>
            <a:ext cx="4572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06B6D4"/>
                </a:solidFill>
              </a:rP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74720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9 Modul Aktif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67328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Dari surat masuk hingga 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06B6D4"/>
                </a:solidFill>
              </a:rPr>
              <a:t>🗄️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133087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11 Tabel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425696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2 database terpisah (utama &amp; sekretariat)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91455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06B6D4"/>
                </a:solidFill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91455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 Peran Pengguna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084064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Dengan kontrol akses berbeda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49823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06B6D4"/>
                </a:solidFill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449823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Audit Trail Lengkap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742431"/>
            <a:ext cx="2011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Setiap aksi tercatat otomatis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09360"/>
            <a:ext cx="10058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Dibimbing oleh Mentor  ·  PKL BBSPJIS — Kementerian Perindustrian 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56248"/>
            <a:ext cx="1170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Mini OPTI Tracker  ·  Progress Report  ·  Agustus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