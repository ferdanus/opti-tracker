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81337"/>
          </a:solidFill>
          <a:ln>
            <a:solidFill>
              <a:srgbClr val="8813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kemenperi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2926080" cy="877824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914400" y="2011680"/>
            <a:ext cx="10362895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2011680"/>
            <a:ext cx="228600" cy="4114800"/>
          </a:xfrm>
          <a:prstGeom prst="roundRect">
            <a:avLst/>
          </a:prstGeom>
          <a:solidFill>
            <a:srgbClr val="881337"/>
          </a:solidFill>
          <a:ln>
            <a:solidFill>
              <a:srgbClr val="8813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2377440"/>
            <a:ext cx="9326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881337"/>
                </a:solidFill>
              </a:defRPr>
            </a:pPr>
            <a:r>
              <a:t>LAPORAN PROGRES PENGEMBANGAN SISTEM</a:t>
            </a:r>
          </a:p>
          <a:p>
            <a:pPr>
              <a:spcBef>
                <a:spcPts val="800"/>
              </a:spcBef>
              <a:defRPr sz="3200" b="1">
                <a:solidFill>
                  <a:srgbClr val="1E293B"/>
                </a:solidFill>
              </a:defRPr>
            </a:pPr>
            <a:r>
              <a:t>Sistem Layanan OPTI (SILOPTI)</a:t>
            </a:r>
          </a:p>
          <a:p>
            <a:pPr>
              <a:spcBef>
                <a:spcPts val="800"/>
              </a:spcBef>
              <a:defRPr sz="1500">
                <a:solidFill>
                  <a:srgbClr val="64748B"/>
                </a:solidFill>
              </a:defRPr>
            </a:pPr>
            <a:r>
              <a:t>Digitalisasi Alur Pelayanan Publik: Dari Surat Permohonan Hingga Kesepakatan (Deal)</a:t>
            </a:r>
          </a:p>
          <a:p>
            <a:pPr>
              <a:spcBef>
                <a:spcPts val="2000"/>
              </a:spcBef>
              <a:defRPr sz="1200" b="1">
                <a:solidFill>
                  <a:srgbClr val="1E293B"/>
                </a:solidFill>
              </a:defRPr>
            </a:pPr>
            <a:r>
              <a:t>Optimalisasi Pemanfaatan Teknologi Industri (OPTI) — Divisi Selulosa &amp; Divisi Lingkungan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Balai Besar Standardisasi dan Pelayanan Jasa Industri Selulosa (BBSPJIS) • Kementerian Perindustrian R.I.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881337"/>
                </a:solidFill>
              </a:defRPr>
            </a:pPr>
            <a:r>
              <a:t>1. TARGET PROYEK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49808"/>
            <a:ext cx="8686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Tujuan Utama yang Ingin Dicapai</a:t>
            </a:r>
          </a:p>
          <a:p>
            <a:pPr>
              <a:spcBef>
                <a:spcPts val="300"/>
              </a:spcBef>
              <a:defRPr sz="1100">
                <a:solidFill>
                  <a:srgbClr val="64748B"/>
                </a:solidFill>
              </a:defRPr>
            </a:pPr>
            <a:r>
              <a:t>Menjawab kebutuhan integrasi, transparansi, dan standarisasi pelayanan jasa balai.</a:t>
            </a:r>
          </a:p>
        </p:txBody>
      </p:sp>
      <p:pic>
        <p:nvPicPr>
          <p:cNvPr id="4" name="Picture 3" descr="kemenperi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457200"/>
            <a:ext cx="1828800" cy="54864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31520" y="1444752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242255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05840" y="1965960"/>
            <a:ext cx="438912" cy="438912"/>
          </a:xfrm>
          <a:prstGeom prst="ellipse">
            <a:avLst/>
          </a:prstGeom>
          <a:solidFill>
            <a:srgbClr val="881337"/>
          </a:solidFill>
          <a:ln>
            <a:solidFill>
              <a:srgbClr val="8813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b="1" sz="1200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1920240"/>
            <a:ext cx="411480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1E293B"/>
                </a:solidFill>
              </a:defRPr>
            </a:pPr>
            <a:r>
              <a:t>Layanan Satu Pintu (Single Window)</a:t>
            </a:r>
          </a:p>
          <a:p>
            <a:pPr>
              <a:spcBef>
                <a:spcPts val="600"/>
              </a:spcBef>
              <a:defRPr sz="1050">
                <a:solidFill>
                  <a:srgbClr val="64748B"/>
                </a:solidFill>
              </a:defRPr>
            </a:pPr>
            <a:r>
              <a:t>Mengalihkan koordinasi permohonan yang sebelumnya terpecah (grup WhatsApp &amp; catatan manual) ke dalam satu sistem terpusat dengan pelacakan status yang jelas.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91640"/>
            <a:ext cx="5242255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92240" y="1965960"/>
            <a:ext cx="438912" cy="438912"/>
          </a:xfrm>
          <a:prstGeom prst="ellipse">
            <a:avLst/>
          </a:prstGeom>
          <a:solidFill>
            <a:srgbClr val="881337"/>
          </a:solidFill>
          <a:ln>
            <a:solidFill>
              <a:srgbClr val="8813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b="1" sz="1200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86600" y="1920240"/>
            <a:ext cx="411480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1E293B"/>
                </a:solidFill>
              </a:defRPr>
            </a:pPr>
            <a:r>
              <a:t>Kepatuhan SOP &amp; Standar Mutu ISO</a:t>
            </a:r>
          </a:p>
          <a:p>
            <a:pPr>
              <a:spcBef>
                <a:spcPts val="600"/>
              </a:spcBef>
              <a:defRPr sz="1050">
                <a:solidFill>
                  <a:srgbClr val="64748B"/>
                </a:solidFill>
              </a:defRPr>
            </a:pPr>
            <a:r>
              <a:t>Menyelesaikan temuan audit administrasi melalui kaji kelayakan teknis terstruktur (SDM, alat, metode, bahan) sebelum penawaran resmi diterbitkan.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114800"/>
            <a:ext cx="5242255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05840" y="4389120"/>
            <a:ext cx="438912" cy="438912"/>
          </a:xfrm>
          <a:prstGeom prst="ellipse">
            <a:avLst/>
          </a:prstGeom>
          <a:solidFill>
            <a:srgbClr val="881337"/>
          </a:solidFill>
          <a:ln>
            <a:solidFill>
              <a:srgbClr val="8813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b="1" sz="1200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4343400"/>
            <a:ext cx="411480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1E293B"/>
                </a:solidFill>
              </a:defRPr>
            </a:pPr>
            <a:r>
              <a:t>Kepastian &amp; Batasan Peran Tim</a:t>
            </a:r>
          </a:p>
          <a:p>
            <a:pPr>
              <a:spcBef>
                <a:spcPts val="600"/>
              </a:spcBef>
              <a:defRPr sz="1050">
                <a:solidFill>
                  <a:srgbClr val="64748B"/>
                </a:solidFill>
              </a:defRPr>
            </a:pPr>
            <a:r>
              <a:t>Memisahkan secara tegas wewenang Tim Mitra (pelayanan &amp; negosiasi harga) dengan Tim Teknis (kaji kelayakan teknis &amp; perhitungan biaya riil).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4114800"/>
            <a:ext cx="5242255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92240" y="4389120"/>
            <a:ext cx="438912" cy="438912"/>
          </a:xfrm>
          <a:prstGeom prst="ellipse">
            <a:avLst/>
          </a:prstGeom>
          <a:solidFill>
            <a:srgbClr val="881337"/>
          </a:solidFill>
          <a:ln>
            <a:solidFill>
              <a:srgbClr val="8813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b="1" sz="1200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86600" y="4343400"/>
            <a:ext cx="411480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1E293B"/>
                </a:solidFill>
              </a:defRPr>
            </a:pPr>
            <a:r>
              <a:t>Fleksibilitas Pelayanan Publik (BLU)</a:t>
            </a:r>
          </a:p>
          <a:p>
            <a:pPr>
              <a:spcBef>
                <a:spcPts val="600"/>
              </a:spcBef>
              <a:defRPr sz="1050">
                <a:solidFill>
                  <a:srgbClr val="64748B"/>
                </a:solidFill>
              </a:defRPr>
            </a:pPr>
            <a:r>
              <a:t>Memungkinkan penyesuaian tarif dan durasi kerja secara dinamis saat negosiasi klien tanpa harus mengulang proses permohonan dari awal.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881337"/>
                </a:solidFill>
              </a:defRPr>
            </a:pPr>
            <a:r>
              <a:t>2. TAHAPAN KEGIATAN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49808"/>
            <a:ext cx="8686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Target Alur Kerja: Permohonan s.d. Kesepakatan (Deal)</a:t>
            </a:r>
          </a:p>
          <a:p>
            <a:pPr>
              <a:spcBef>
                <a:spcPts val="300"/>
              </a:spcBef>
              <a:defRPr sz="1100">
                <a:solidFill>
                  <a:srgbClr val="64748B"/>
                </a:solidFill>
              </a:defRPr>
            </a:pPr>
            <a:r>
              <a:t>Lima tahapan terstruktur yang dirancang dari penerimaan surat hingga persetujuan penawaran.</a:t>
            </a:r>
          </a:p>
        </p:txBody>
      </p:sp>
      <p:pic>
        <p:nvPicPr>
          <p:cNvPr id="4" name="Picture 3" descr="kemenperi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457200"/>
            <a:ext cx="1828800" cy="54864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31520" y="1444752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2029968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2029968" cy="594360"/>
          </a:xfrm>
          <a:prstGeom prst="roundRect">
            <a:avLst/>
          </a:prstGeom>
          <a:solidFill>
            <a:srgbClr val="881337"/>
          </a:solidFill>
          <a:ln>
            <a:solidFill>
              <a:srgbClr val="8813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TAHAP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423160"/>
            <a:ext cx="1700784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1E293B"/>
                </a:solidFill>
              </a:defRPr>
            </a:pPr>
            <a:r>
              <a:t>Penerimaan Surat Masuk</a:t>
            </a:r>
          </a:p>
          <a:p>
            <a:pPr>
              <a:spcBef>
                <a:spcPts val="800"/>
              </a:spcBef>
              <a:defRPr sz="1000">
                <a:solidFill>
                  <a:srgbClr val="64748B"/>
                </a:solidFill>
              </a:defRPr>
            </a:pPr>
            <a:r>
              <a:t>Registrasi surat permohonan dari industri &amp; penentuan disposisi divisi (Selulosa / Lingkungan).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07792" y="1691640"/>
            <a:ext cx="2029968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907792" y="1691640"/>
            <a:ext cx="2029968" cy="594360"/>
          </a:xfrm>
          <a:prstGeom prst="roundRect">
            <a:avLst/>
          </a:prstGeom>
          <a:solidFill>
            <a:srgbClr val="881337"/>
          </a:solidFill>
          <a:ln>
            <a:solidFill>
              <a:srgbClr val="8813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TAHAP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72384" y="2423160"/>
            <a:ext cx="1700784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1E293B"/>
                </a:solidFill>
              </a:defRPr>
            </a:pPr>
            <a:r>
              <a:t>Kaji Kelayakan Teknis</a:t>
            </a:r>
          </a:p>
          <a:p>
            <a:pPr>
              <a:spcBef>
                <a:spcPts val="800"/>
              </a:spcBef>
              <a:defRPr sz="1000">
                <a:solidFill>
                  <a:srgbClr val="64748B"/>
                </a:solidFill>
              </a:defRPr>
            </a:pPr>
            <a:r>
              <a:t>Penelaahan kesiapan teknis balai mencakup SDM, instrumen alat, dan metode sesuai SOP mutu.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84064" y="1691640"/>
            <a:ext cx="2029968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084064" y="1691640"/>
            <a:ext cx="2029968" cy="594360"/>
          </a:xfrm>
          <a:prstGeom prst="roundRect">
            <a:avLst/>
          </a:prstGeom>
          <a:solidFill>
            <a:srgbClr val="881337"/>
          </a:solidFill>
          <a:ln>
            <a:solidFill>
              <a:srgbClr val="8813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TAHAP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48656" y="2423160"/>
            <a:ext cx="1700784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1E293B"/>
                </a:solidFill>
              </a:defRPr>
            </a:pPr>
            <a:r>
              <a:t>Penyusunan Biaya Riil</a:t>
            </a:r>
          </a:p>
          <a:p>
            <a:pPr>
              <a:spcBef>
                <a:spcPts val="800"/>
              </a:spcBef>
              <a:defRPr sz="1000">
                <a:solidFill>
                  <a:srgbClr val="64748B"/>
                </a:solidFill>
              </a:defRPr>
            </a:pPr>
            <a:r>
              <a:t>Kalkulasi tarif riil berbasis parameter uji baku mutu atau tahapan riset (tanpa persentase dummy).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60336" y="1691640"/>
            <a:ext cx="2029968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260336" y="1691640"/>
            <a:ext cx="2029968" cy="594360"/>
          </a:xfrm>
          <a:prstGeom prst="roundRect">
            <a:avLst/>
          </a:prstGeom>
          <a:solidFill>
            <a:srgbClr val="881337"/>
          </a:solidFill>
          <a:ln>
            <a:solidFill>
              <a:srgbClr val="8813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TAHAP 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24928" y="2423160"/>
            <a:ext cx="1700784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1E293B"/>
                </a:solidFill>
              </a:defRPr>
            </a:pPr>
            <a:r>
              <a:t>Penerbitan Penawaran</a:t>
            </a:r>
          </a:p>
          <a:p>
            <a:pPr>
              <a:spcBef>
                <a:spcPts val="800"/>
              </a:spcBef>
              <a:defRPr sz="1000">
                <a:solidFill>
                  <a:srgbClr val="64748B"/>
                </a:solidFill>
              </a:defRPr>
            </a:pPr>
            <a:r>
              <a:t>Penerbitan Surat Penawaran Resmi otomatis (auto-generate PDF) standar tata naskah BBSPJIS.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36608" y="1691640"/>
            <a:ext cx="2029968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436608" y="1691640"/>
            <a:ext cx="2029968" cy="594360"/>
          </a:xfrm>
          <a:prstGeom prst="roundRect">
            <a:avLst/>
          </a:prstGeom>
          <a:solidFill>
            <a:srgbClr val="10956A"/>
          </a:solidFill>
          <a:ln>
            <a:solidFill>
              <a:srgbClr val="109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TAHAP 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0" y="2423160"/>
            <a:ext cx="1700784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1E293B"/>
                </a:solidFill>
              </a:defRPr>
            </a:pPr>
            <a:r>
              <a:t>Negosiasi &amp; Deal</a:t>
            </a:r>
          </a:p>
          <a:p>
            <a:pPr>
              <a:spcBef>
                <a:spcPts val="800"/>
              </a:spcBef>
              <a:defRPr sz="1000">
                <a:solidFill>
                  <a:srgbClr val="64748B"/>
                </a:solidFill>
              </a:defRPr>
            </a:pPr>
            <a:r>
              <a:t>Pencatatan respon klien, penyesuaian biaya/durasi jika ada negosiasi, hingga status kesepakatan DEAL.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881337"/>
                </a:solidFill>
              </a:defRPr>
            </a:pPr>
            <a:r>
              <a:t>3. KEMAJUAN PELAKSANAAN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49808"/>
            <a:ext cx="8686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Status Capaian Fungsional Tiap Tahapan Kerja</a:t>
            </a:r>
          </a:p>
          <a:p>
            <a:pPr>
              <a:spcBef>
                <a:spcPts val="300"/>
              </a:spcBef>
              <a:defRPr sz="1100">
                <a:solidFill>
                  <a:srgbClr val="64748B"/>
                </a:solidFill>
              </a:defRPr>
            </a:pPr>
            <a:r>
              <a:t>Seluruh tahapan dari registrasi permohonan hingga status kesepakatan penawaran telah fungsional.</a:t>
            </a:r>
          </a:p>
        </p:txBody>
      </p:sp>
      <p:pic>
        <p:nvPicPr>
          <p:cNvPr id="4" name="Picture 3" descr="kemenperi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457200"/>
            <a:ext cx="1828800" cy="54864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31520" y="1444752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10728655" cy="868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20" y="1892808"/>
            <a:ext cx="1280160" cy="457200"/>
          </a:xfrm>
          <a:prstGeom prst="roundRect">
            <a:avLst/>
          </a:prstGeom>
          <a:solidFill>
            <a:srgbClr val="ECFDF5"/>
          </a:solidFill>
          <a:ln>
            <a:solidFill>
              <a:srgbClr val="109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b="1" sz="950">
                <a:solidFill>
                  <a:srgbClr val="10956A"/>
                </a:solidFill>
              </a:defRPr>
            </a:pPr>
            <a:r>
              <a:t>100%  Selesai &amp; Aktif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23160" y="1819656"/>
            <a:ext cx="877824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1E293B"/>
                </a:solidFill>
              </a:defRPr>
            </a:pPr>
            <a:r>
              <a:t>Tahap 1: Penerimaan Surat Masuk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</a:defRPr>
            </a:pPr>
            <a:r>
              <a:t>Surat masuk industri tercatat otomatis; disposisi divisi layanan Selulosa dan Lingkungan berjalan lancar.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651760"/>
            <a:ext cx="10728655" cy="868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60120" y="2852928"/>
            <a:ext cx="1280160" cy="457200"/>
          </a:xfrm>
          <a:prstGeom prst="roundRect">
            <a:avLst/>
          </a:prstGeom>
          <a:solidFill>
            <a:srgbClr val="ECFDF5"/>
          </a:solidFill>
          <a:ln>
            <a:solidFill>
              <a:srgbClr val="109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b="1" sz="950">
                <a:solidFill>
                  <a:srgbClr val="10956A"/>
                </a:solidFill>
              </a:defRPr>
            </a:pPr>
            <a:r>
              <a:t>100%  Selesai &amp; Aktif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23160" y="2779776"/>
            <a:ext cx="877824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1E293B"/>
                </a:solidFill>
              </a:defRPr>
            </a:pPr>
            <a:r>
              <a:t>Tahap 2: Kaji Kelayakan Teknis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</a:defRPr>
            </a:pPr>
            <a:r>
              <a:t>Formulir kelayakan teknis (SDM, alat, metode, bahan) terisi terstruktur untuk pemenuhan kepatuhan ISO 9001.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611880"/>
            <a:ext cx="10728655" cy="868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60120" y="3813048"/>
            <a:ext cx="1280160" cy="457200"/>
          </a:xfrm>
          <a:prstGeom prst="roundRect">
            <a:avLst/>
          </a:prstGeom>
          <a:solidFill>
            <a:srgbClr val="ECFDF5"/>
          </a:solidFill>
          <a:ln>
            <a:solidFill>
              <a:srgbClr val="109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b="1" sz="950">
                <a:solidFill>
                  <a:srgbClr val="10956A"/>
                </a:solidFill>
              </a:defRPr>
            </a:pPr>
            <a:r>
              <a:t>100%  Selesai &amp; Aktif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23160" y="3739896"/>
            <a:ext cx="877824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1E293B"/>
                </a:solidFill>
              </a:defRPr>
            </a:pPr>
            <a:r>
              <a:t>Tahap 3: Perhitungan Biaya Riil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</a:defRPr>
            </a:pPr>
            <a:r>
              <a:t>Kalkulasi tarif pengujian lingkungan dan rancangan percobaan selulosa terhitung akurat tanpa rumus fiktif.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572000"/>
            <a:ext cx="10728655" cy="868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60120" y="4773168"/>
            <a:ext cx="1280160" cy="457200"/>
          </a:xfrm>
          <a:prstGeom prst="roundRect">
            <a:avLst/>
          </a:prstGeom>
          <a:solidFill>
            <a:srgbClr val="ECFDF5"/>
          </a:solidFill>
          <a:ln>
            <a:solidFill>
              <a:srgbClr val="109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b="1" sz="950">
                <a:solidFill>
                  <a:srgbClr val="10956A"/>
                </a:solidFill>
              </a:defRPr>
            </a:pPr>
            <a:r>
              <a:t>100%  Selesai &amp; Aktif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23160" y="4700016"/>
            <a:ext cx="877824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1E293B"/>
                </a:solidFill>
              </a:defRPr>
            </a:pPr>
            <a:r>
              <a:t>Tahap 4: Penerbitan Surat Penawaran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</a:defRPr>
            </a:pPr>
            <a:r>
              <a:t>Fitur live preview interaktif di web dan auto-generate PDF resmi BBSPJIS (bebas titik-titik dan siap cetak).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532120"/>
            <a:ext cx="10728655" cy="868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60120" y="5733288"/>
            <a:ext cx="1280160" cy="457200"/>
          </a:xfrm>
          <a:prstGeom prst="roundRect">
            <a:avLst/>
          </a:prstGeom>
          <a:solidFill>
            <a:srgbClr val="ECFDF5"/>
          </a:solidFill>
          <a:ln>
            <a:solidFill>
              <a:srgbClr val="109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b="1" sz="950">
                <a:solidFill>
                  <a:srgbClr val="10956A"/>
                </a:solidFill>
              </a:defRPr>
            </a:pPr>
            <a:r>
              <a:t>100%  Selesai &amp; Aktif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23160" y="5660136"/>
            <a:ext cx="877824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1E293B"/>
                </a:solidFill>
              </a:defRPr>
            </a:pPr>
            <a:r>
              <a:t>Tahap 5: Manajemen Respon &amp; Deal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</a:defRPr>
            </a:pPr>
            <a:r>
              <a:t>Pencatatan respon negosiasi klien (harga &amp; waktu) serta penetapan status DEAL siap lanjut ke tahap kontrak.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881337"/>
                </a:solidFill>
              </a:defRPr>
            </a:pPr>
            <a:r>
              <a:t>4. OUTPUT &amp; CAPAIAN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49808"/>
            <a:ext cx="8686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Hasil Konkret yang Telah Dihasilkan Sejauh Ini</a:t>
            </a:r>
          </a:p>
          <a:p>
            <a:pPr>
              <a:spcBef>
                <a:spcPts val="300"/>
              </a:spcBef>
              <a:defRPr sz="1100">
                <a:solidFill>
                  <a:srgbClr val="64748B"/>
                </a:solidFill>
              </a:defRPr>
            </a:pPr>
            <a:r>
              <a:t>Wujud nyata sistem web SILOPTI yang telah siap dipakai pada alur permohonan hingga deal.</a:t>
            </a:r>
          </a:p>
        </p:txBody>
      </p:sp>
      <p:pic>
        <p:nvPicPr>
          <p:cNvPr id="4" name="Picture 3" descr="kemenperi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457200"/>
            <a:ext cx="1828800" cy="54864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31520" y="1444752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342900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20" y="1920240"/>
            <a:ext cx="502920" cy="502920"/>
          </a:xfrm>
          <a:prstGeom prst="roundRect">
            <a:avLst/>
          </a:prstGeom>
          <a:solidFill>
            <a:srgbClr val="881337"/>
          </a:solidFill>
          <a:ln>
            <a:solidFill>
              <a:srgbClr val="8813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b="1" sz="1200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560320"/>
            <a:ext cx="297180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1E293B"/>
                </a:solidFill>
              </a:defRPr>
            </a:pPr>
            <a:r>
              <a:t>Prototipe Sistem Web SILOPTI Fungsional</a:t>
            </a:r>
          </a:p>
          <a:p>
            <a:pPr>
              <a:spcBef>
                <a:spcPts val="400"/>
              </a:spcBef>
              <a:defRPr sz="950">
                <a:solidFill>
                  <a:srgbClr val="64748B"/>
                </a:solidFill>
              </a:defRPr>
            </a:pPr>
            <a:r>
              <a:t>Aplikasi berbasis web yang menghubungkan Tim Mitra, Ketua Tim Teknis, dan Manajemen Balai.</a:t>
            </a:r>
          </a:p>
          <a:p>
            <a:pPr>
              <a:spcBef>
                <a:spcPts val="800"/>
              </a:spcBef>
              <a:defRPr sz="950">
                <a:solidFill>
                  <a:srgbClr val="1E293B"/>
                </a:solidFill>
              </a:defRPr>
            </a:pPr>
            <a:r>
              <a:t>• Dashboard monitoring terpadu untuk kedua divisi layanan.</a:t>
            </a:r>
          </a:p>
          <a:p>
            <a:pPr>
              <a:spcBef>
                <a:spcPts val="800"/>
              </a:spcBef>
              <a:defRPr sz="950">
                <a:solidFill>
                  <a:srgbClr val="1E293B"/>
                </a:solidFill>
              </a:defRPr>
            </a:pPr>
            <a:r>
              <a:t>• Alur permohonan transparan dan dapat dilacak (tracking record).</a:t>
            </a:r>
          </a:p>
          <a:p>
            <a:pPr>
              <a:spcBef>
                <a:spcPts val="800"/>
              </a:spcBef>
              <a:defRPr sz="950">
                <a:solidFill>
                  <a:srgbClr val="1E293B"/>
                </a:solidFill>
              </a:defRPr>
            </a:pPr>
            <a:r>
              <a:t>• Akses login yang langsung diarahkan ke ringkasan eksekutif.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9976" y="1691640"/>
            <a:ext cx="342900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608576" y="1920240"/>
            <a:ext cx="502920" cy="502920"/>
          </a:xfrm>
          <a:prstGeom prst="roundRect">
            <a:avLst/>
          </a:prstGeom>
          <a:solidFill>
            <a:srgbClr val="881337"/>
          </a:solidFill>
          <a:ln>
            <a:solidFill>
              <a:srgbClr val="8813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b="1" sz="1200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08576" y="2560320"/>
            <a:ext cx="297180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1E293B"/>
                </a:solidFill>
              </a:defRPr>
            </a:pPr>
            <a:r>
              <a:t>Standardisasi Dokumen Resmi Otomatis</a:t>
            </a:r>
          </a:p>
          <a:p>
            <a:pPr>
              <a:spcBef>
                <a:spcPts val="400"/>
              </a:spcBef>
              <a:defRPr sz="950">
                <a:solidFill>
                  <a:srgbClr val="64748B"/>
                </a:solidFill>
              </a:defRPr>
            </a:pPr>
            <a:r>
              <a:t>Dokumen pelayanan dan penawaran terbit secara otomatis sesuai standar tata naskah dinas BBSPJIS.</a:t>
            </a:r>
          </a:p>
          <a:p>
            <a:pPr>
              <a:spcBef>
                <a:spcPts val="800"/>
              </a:spcBef>
              <a:defRPr sz="950">
                <a:solidFill>
                  <a:srgbClr val="1E293B"/>
                </a:solidFill>
              </a:defRPr>
            </a:pPr>
            <a:r>
              <a:t>• Formulir Permintaan Pelayanan Jasa berformat standar balai.</a:t>
            </a:r>
          </a:p>
          <a:p>
            <a:pPr>
              <a:spcBef>
                <a:spcPts val="800"/>
              </a:spcBef>
              <a:defRPr sz="950">
                <a:solidFill>
                  <a:srgbClr val="1E293B"/>
                </a:solidFill>
              </a:defRPr>
            </a:pPr>
            <a:r>
              <a:t>• Surat Penawaran Resmi otomatis (PDF) dengan kop, nomor, dan biaya riil.</a:t>
            </a:r>
          </a:p>
          <a:p>
            <a:pPr>
              <a:spcBef>
                <a:spcPts val="800"/>
              </a:spcBef>
              <a:defRPr sz="950">
                <a:solidFill>
                  <a:srgbClr val="1E293B"/>
                </a:solidFill>
              </a:defRPr>
            </a:pPr>
            <a:r>
              <a:t>• Tampilan bersih tanpa garis titik-titik dan bebas perhitungan fiktif.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28432" y="1691640"/>
            <a:ext cx="342900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257032" y="1920240"/>
            <a:ext cx="502920" cy="502920"/>
          </a:xfrm>
          <a:prstGeom prst="roundRect">
            <a:avLst/>
          </a:prstGeom>
          <a:solidFill>
            <a:srgbClr val="10956A"/>
          </a:solidFill>
          <a:ln>
            <a:solidFill>
              <a:srgbClr val="109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b="1" sz="1200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57032" y="2560320"/>
            <a:ext cx="297180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1E293B"/>
                </a:solidFill>
              </a:defRPr>
            </a:pPr>
            <a:r>
              <a:t>Kepastian Peran Kerja &amp; Kesiapan Lanjutan</a:t>
            </a:r>
          </a:p>
          <a:p>
            <a:pPr>
              <a:spcBef>
                <a:spcPts val="400"/>
              </a:spcBef>
              <a:defRPr sz="950">
                <a:solidFill>
                  <a:srgbClr val="64748B"/>
                </a:solidFill>
              </a:defRPr>
            </a:pPr>
            <a:r>
              <a:t>Batasan kerja antar tim jelas dan sistem siap menyambung ke fase kontrak serta pelaksanaan.</a:t>
            </a:r>
          </a:p>
          <a:p>
            <a:pPr>
              <a:spcBef>
                <a:spcPts val="800"/>
              </a:spcBef>
              <a:defRPr sz="950">
                <a:solidFill>
                  <a:srgbClr val="1E293B"/>
                </a:solidFill>
              </a:defRPr>
            </a:pPr>
            <a:r>
              <a:t>• Tim Mitra fokus pada administrasi &amp; negosiasi harga bersama klien.</a:t>
            </a:r>
          </a:p>
          <a:p>
            <a:pPr>
              <a:spcBef>
                <a:spcPts val="800"/>
              </a:spcBef>
              <a:defRPr sz="950">
                <a:solidFill>
                  <a:srgbClr val="1E293B"/>
                </a:solidFill>
              </a:defRPr>
            </a:pPr>
            <a:r>
              <a:t>• Tim Teknis fokus pada kaji kelayakan teknis &amp; perhitungan biaya riil.</a:t>
            </a:r>
          </a:p>
          <a:p>
            <a:pPr>
              <a:spcBef>
                <a:spcPts val="800"/>
              </a:spcBef>
              <a:defRPr sz="950">
                <a:solidFill>
                  <a:srgbClr val="1E293B"/>
                </a:solidFill>
              </a:defRPr>
            </a:pPr>
            <a:r>
              <a:t>• Status order DEAL siap dilanjutkan ke kontrak (SPK/PKS) dan pembayaran.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881337"/>
                </a:solidFill>
              </a:defRPr>
            </a:pPr>
            <a:r>
              <a:t>5. LANGKAH SELANJUTNYA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49808"/>
            <a:ext cx="8686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Kesiapan Integrasi ke Tahap Pelaksanaan</a:t>
            </a:r>
          </a:p>
          <a:p>
            <a:pPr>
              <a:spcBef>
                <a:spcPts val="300"/>
              </a:spcBef>
              <a:defRPr sz="1100">
                <a:solidFill>
                  <a:srgbClr val="64748B"/>
                </a:solidFill>
              </a:defRPr>
            </a:pPr>
            <a:r>
              <a:t>Pondasi alur penawaran &amp; deal telah kokoh dan siap diteruskan ke proses eksekusi pekerjaan.</a:t>
            </a:r>
          </a:p>
        </p:txBody>
      </p:sp>
      <p:pic>
        <p:nvPicPr>
          <p:cNvPr id="4" name="Picture 3" descr="kemenperi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457200"/>
            <a:ext cx="1828800" cy="54864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31520" y="1444752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242255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05840" y="1965960"/>
            <a:ext cx="438912" cy="438912"/>
          </a:xfrm>
          <a:prstGeom prst="ellipse">
            <a:avLst/>
          </a:prstGeom>
          <a:solidFill>
            <a:srgbClr val="FDF2F8"/>
          </a:solidFill>
          <a:ln w="15240">
            <a:solidFill>
              <a:srgbClr val="8813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b="1" sz="1300">
                <a:solidFill>
                  <a:srgbClr val="881337"/>
                </a:solidFill>
              </a:defRPr>
            </a:pPr>
            <a:r>
              <a:t>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1920240"/>
            <a:ext cx="411480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1E293B"/>
                </a:solidFill>
              </a:defRPr>
            </a:pPr>
            <a:r>
              <a:t>Administrasi Kontrak (SPK / PKS)</a:t>
            </a:r>
          </a:p>
          <a:p>
            <a:pPr>
              <a:spcBef>
                <a:spcPts val="600"/>
              </a:spcBef>
              <a:defRPr sz="1050">
                <a:solidFill>
                  <a:srgbClr val="64748B"/>
                </a:solidFill>
              </a:defRPr>
            </a:pPr>
            <a:r>
              <a:t>Penerbitan Surat Perintah Kerja atau Perjanjian Kerja Sama resmi setelah status penawaran disepakati (DEAL).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91640"/>
            <a:ext cx="5242255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92240" y="1965960"/>
            <a:ext cx="438912" cy="438912"/>
          </a:xfrm>
          <a:prstGeom prst="ellipse">
            <a:avLst/>
          </a:prstGeom>
          <a:solidFill>
            <a:srgbClr val="FDF2F8"/>
          </a:solidFill>
          <a:ln w="15240">
            <a:solidFill>
              <a:srgbClr val="8813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b="1" sz="1300">
                <a:solidFill>
                  <a:srgbClr val="881337"/>
                </a:solidFill>
              </a:defRPr>
            </a:pPr>
            <a: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86600" y="1920240"/>
            <a:ext cx="411480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1E293B"/>
                </a:solidFill>
              </a:defRPr>
            </a:pPr>
            <a:r>
              <a:t>Verifikasi Pembayaran &amp; SPMK</a:t>
            </a:r>
          </a:p>
          <a:p>
            <a:pPr>
              <a:spcBef>
                <a:spcPts val="600"/>
              </a:spcBef>
              <a:defRPr sz="1050">
                <a:solidFill>
                  <a:srgbClr val="64748B"/>
                </a:solidFill>
              </a:defRPr>
            </a:pPr>
            <a:r>
              <a:t>Pencatatan kode billing dan verifikasi kas masuk sebelum pekerjaan fisik pengujian/riset resmi dimulai.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114800"/>
            <a:ext cx="5242255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05840" y="4389120"/>
            <a:ext cx="438912" cy="438912"/>
          </a:xfrm>
          <a:prstGeom prst="ellipse">
            <a:avLst/>
          </a:prstGeom>
          <a:solidFill>
            <a:srgbClr val="FDF2F8"/>
          </a:solidFill>
          <a:ln w="15240">
            <a:solidFill>
              <a:srgbClr val="8813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b="1" sz="1300">
                <a:solidFill>
                  <a:srgbClr val="881337"/>
                </a:solidFill>
              </a:defRPr>
            </a:pPr>
            <a: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4343400"/>
            <a:ext cx="411480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1E293B"/>
                </a:solidFill>
              </a:defRPr>
            </a:pPr>
            <a:r>
              <a:t>Hitung Batas Waktu Layanan (SPM)</a:t>
            </a:r>
          </a:p>
          <a:p>
            <a:pPr>
              <a:spcBef>
                <a:spcPts val="600"/>
              </a:spcBef>
              <a:defRPr sz="1050">
                <a:solidFill>
                  <a:srgbClr val="64748B"/>
                </a:solidFill>
              </a:defRPr>
            </a:pPr>
            <a:r>
              <a:t>Perhitungan otomatis durasi kerja berbasis hari kerja efektif terhitung sejak tanggal sampel fisik diterima.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4114800"/>
            <a:ext cx="5242255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92240" y="4389120"/>
            <a:ext cx="438912" cy="438912"/>
          </a:xfrm>
          <a:prstGeom prst="ellipse">
            <a:avLst/>
          </a:prstGeom>
          <a:solidFill>
            <a:srgbClr val="FDF2F8"/>
          </a:solidFill>
          <a:ln w="15240">
            <a:solidFill>
              <a:srgbClr val="8813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b="1" sz="1300">
                <a:solidFill>
                  <a:srgbClr val="881337"/>
                </a:solidFill>
              </a:defRPr>
            </a:pPr>
            <a: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86600" y="4343400"/>
            <a:ext cx="411480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1E293B"/>
                </a:solidFill>
              </a:defRPr>
            </a:pPr>
            <a:r>
              <a:t>Penyelesaian &amp; Serah Terima (BAST)</a:t>
            </a:r>
          </a:p>
          <a:p>
            <a:pPr>
              <a:spcBef>
                <a:spcPts val="600"/>
              </a:spcBef>
              <a:defRPr sz="1050">
                <a:solidFill>
                  <a:srgbClr val="64748B"/>
                </a:solidFill>
              </a:defRPr>
            </a:pPr>
            <a:r>
              <a:t>Penerbitan Laporan Hasil Uji (LHU) / Laporan Riset dan Berita Acara Serah Terima pekerjaan kepada industri.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